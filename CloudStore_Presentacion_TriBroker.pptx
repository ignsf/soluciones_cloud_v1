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36B3B"/>
                </a:solidFill>
              </a:defRPr>
            </a:pPr>
            <a:r>
              <a:t>SOLUCIONES CLOUD &amp; SISTEMAS DISTRIBUIDOS</a:t>
            </a:r>
          </a:p>
          <a:p>
            <a:pPr>
              <a:spcBef>
                <a:spcPts val="1400"/>
              </a:spcBef>
              <a:defRPr sz="3600" b="1">
                <a:solidFill>
                  <a:srgbClr val="FFFFFF"/>
                </a:solidFill>
              </a:defRPr>
            </a:pPr>
            <a:r>
              <a:t>CloudStore: Arquitectura Tri-Broker</a:t>
            </a:r>
          </a:p>
          <a:p>
            <a:pPr>
              <a:spcBef>
                <a:spcPts val="1600"/>
              </a:spcBef>
              <a:defRPr sz="1600">
                <a:solidFill>
                  <a:srgbClr val="CBD5E1"/>
                </a:solidFill>
              </a:defRPr>
            </a:pPr>
            <a:r>
              <a:t>Orquestación Asíncrona con RabbitMQ, Amazon SQS y LavinMQ, Seguridad Dual SSO e Infraestructura Desacoplada</a:t>
            </a:r>
          </a:p>
          <a:p>
            <a:pPr>
              <a:spcBef>
                <a:spcPts val="3000"/>
              </a:spcBef>
              <a:defRPr sz="1200">
                <a:solidFill>
                  <a:srgbClr val="94A3B8"/>
                </a:solidFill>
              </a:defRPr>
            </a:pPr>
            <a:r>
              <a:t>Informe y Defensa Técnica Oficial  | 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36B3B"/>
                </a:solidFill>
              </a:defRPr>
            </a:pPr>
            <a:r>
              <a:t>ARQUITECTURA DE SOFTWARE DISTRIBUIDA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El Desafío de Integración: Del Conflicto al Desacoplamiento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7432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B36B3B"/>
                </a:solidFill>
              </a:rPr>
              <a:t>[CONFLICTO] </a:t>
            </a:r>
            <a:r>
              <a:rPr sz="1400" b="1">
                <a:solidFill>
                  <a:srgbClr val="0F172A"/>
                </a:solidFill>
              </a:rPr>
              <a:t>Rama Compañero 1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Desarrolló 'inventory-service' con Spring Boot.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Dependencia exclusiva de RabbitMQ (AMQP :5672).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En OrderService invocaba publishOrderCreated().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Misión: Descuento síncrono/asíncrono de existencias.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Riesgo: Al integrar la rama 2, quedó desconectado.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920240"/>
            <a:ext cx="27432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B36B3B"/>
                </a:solidFill>
              </a:rPr>
              <a:t>[CONFLICTO] </a:t>
            </a:r>
            <a:r>
              <a:rPr sz="1400" b="1">
                <a:solidFill>
                  <a:srgbClr val="0F172A"/>
                </a:solidFill>
              </a:rPr>
              <a:t>Rama Compañero 2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Desarrolló 'notificaciones-service' en AWS SQS.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Eliminó la llamada de RabbitMQ al fusionar.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Reemplazó con sqsNotificacionPublisher.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Misión: Encolado de correos de confirmación.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Consecuencia: Rompió el microservicio de inventario.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92024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47857"/>
                </a:solidFill>
              </a:rPr>
              <a:t>[RESOLUCIÓN] </a:t>
            </a:r>
            <a:r>
              <a:rPr sz="1400" b="1">
                <a:solidFill>
                  <a:srgbClr val="0F172A"/>
                </a:solidFill>
              </a:rPr>
              <a:t>La Solución Unificada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Preservación de Código: 0 líneas alteradas en microservicios ajenos.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Orquestador Concurrente en OrderService (demo).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Incorporación de LavinMQ para Envíos y Tracking.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Aislamiento de Fallos: try/catch independientes.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Resultado: 3 brokers y 4 microservicios en armonía.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36B3B"/>
                </a:solidFill>
              </a:defRPr>
            </a:pPr>
            <a:r>
              <a:t>ARQUITECTURA DE SOFTWARE DISTRIBUIDA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Topología Global del Ecosistema CloudStore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7432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B36B3B"/>
                </a:solidFill>
              </a:rPr>
              <a:t>[STOCK] </a:t>
            </a:r>
            <a:r>
              <a:rPr sz="1400" b="1">
                <a:solidFill>
                  <a:srgbClr val="0F172A"/>
                </a:solidFill>
              </a:rPr>
              <a:t>Bus 1: RabbitMQ (:5672)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Tecnología: Erlang (BEAM VM).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Microservicio: inventory-service (:8081).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Consumo: Push continuo con @RabbitListener.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Rol de Negocio: Descuenta stock en tiempo real.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Seguridad: Acceso HTTP protegido con rol Admin.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920240"/>
            <a:ext cx="27432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D4ED8"/>
                </a:solidFill>
              </a:rPr>
              <a:t>[NOTIFICACIONES] </a:t>
            </a:r>
            <a:r>
              <a:rPr sz="1400" b="1">
                <a:solidFill>
                  <a:srgbClr val="0F172A"/>
                </a:solidFill>
              </a:rPr>
              <a:t>Bus 2: Amazon SQS (Cloud)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Tecnología: AWS Serverless Cloud Nativo.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Microservicio: notificaciones-service (:8082).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Consumo: Pull por Long Polling (20 segundos).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Rol de Negocio: Encolado de avisos y correos.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Resiliencia: AWS Managed Redrive Policy.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92024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47857"/>
                </a:solidFill>
              </a:rPr>
              <a:t>[LOGÍSTICA] </a:t>
            </a:r>
            <a:r>
              <a:rPr sz="1400" b="1">
                <a:solidFill>
                  <a:srgbClr val="0F172A"/>
                </a:solidFill>
              </a:rPr>
              <a:t>Bus 3: LavinMQ (:5673)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Tecnología: Lenguaje Crystal (Compilado LLVM).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Microservicio: shipping-service (:8083).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Consumo: Push AMQP de ultra baja latencia.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Rol de Negocio: Creación de guías TRK-CL y tracking.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Resiliencia: Dead Letter Queue (DLQ) nativa.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36B3B"/>
                </a:solidFill>
              </a:defRPr>
            </a:pPr>
            <a:r>
              <a:t>ARQUITECTURA DE SOFTWARE DISTRIBUIDA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LavinMQ: Naturaleza y Ventajas Competitivas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47857"/>
                </a:solidFill>
              </a:rPr>
              <a:t>[INGENIERÍA] </a:t>
            </a:r>
            <a:r>
              <a:rPr sz="1400" b="1">
                <a:solidFill>
                  <a:srgbClr val="0F172A"/>
                </a:solidFill>
              </a:rPr>
              <a:t>Fundamentos de LavinMQ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Desarrollado por CloudAMQP (84codes) en lenguaje Crystal.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Compilación nativa sobre LLVM sin máquina virtual pesada.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100% Compatible con el estándar AMQP 0-9-1 de RabbitMQ.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Utiliza los mismos clientes Java (Spring AMQP) sin dependencias raras.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Puerto AMQP mapeado: :5673 para evitar colisiones con RabbitMQ (:5672).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Consola de Gestión Web integrada en el puerto :1234.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B36B3B"/>
                </a:solidFill>
              </a:rPr>
              <a:t>[BENCHMARK] </a:t>
            </a:r>
            <a:r>
              <a:rPr sz="1400" b="1">
                <a:solidFill>
                  <a:srgbClr val="0F172A"/>
                </a:solidFill>
              </a:rPr>
              <a:t>Métricas y Rendimiento Extremo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Capacidad Masiva: &gt;1.000.000 de mensajes por segundo.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Latencia de Entrega: Menor a 1 milisegundo (sub-milisegundo).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Consumo de Memoria: Menos de 50 MB de RAM en producción.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Frente a RabbitMQ: Consume un 90% menos memoria que Erlang.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Ideal para Logística: Alta tasa de eventos de pedidos y tracking.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Despliegue: Imagen oficial de Docker cloudamqp/lavinmq:latest.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36B3B"/>
                </a:solidFill>
              </a:defRPr>
            </a:pPr>
            <a:r>
              <a:t>ARQUITECTURA DE SOFTWARE DISTRIBUIDA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Topología de Mensajería y Resiliencia con DLQ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F172A"/>
                </a:solidFill>
              </a:rPr>
              <a:t>[AMQP 0-9-1] </a:t>
            </a:r>
            <a:r>
              <a:rPr sz="1400" b="1">
                <a:solidFill>
                  <a:srgbClr val="0F172A"/>
                </a:solidFill>
              </a:rPr>
              <a:t>Entidades Declaradas en LavinMQ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Direct Exchange: 'shipping.exchange'. Recibe el evento de compra.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Routing Key: 'shipping.created' para pedidos recién generados.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Cola Durable: 'shipping.order-created.queue' (persiste en disco).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Binding: Enlace directo entre Exchange y Queue.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Consumidor @RabbitListener: Despierta ante eventos y procesa el envío.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Confirmaciones ACK/NACK: Confirmación explícita tras procesar.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B36B3B"/>
                </a:solidFill>
              </a:rPr>
              <a:t>[TOLERANCIA A FALLOS] </a:t>
            </a:r>
            <a:r>
              <a:rPr sz="1400" b="1">
                <a:solidFill>
                  <a:srgbClr val="0F172A"/>
                </a:solidFill>
              </a:rPr>
              <a:t>Mecanismo Dead Letter Queue (DLQ)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Exchange DLX: 'shipping.dlx'.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Cola de Mensajes Muertos: 'shipping.order-created.dlq'.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Regla de Desvío: x-dead-letter-exchange enlazado a shipping.dlx.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Manejo de Errores: AmqpRejectAndDontRequeueException ante fallas.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Objetivo de Ingeniería: Evita bucles infinitos por mensajes corruptos.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Auditoría Forense: Permite inspeccionar mensajes sin detener la cola.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36B3B"/>
                </a:solidFill>
              </a:defRPr>
            </a:pPr>
            <a:r>
              <a:t>ARQUITECTURA DE SOFTWARE DISTRIBUIDA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El Orquestador Concurrente en Backend (demo)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F172A"/>
                </a:solidFill>
              </a:rPr>
              <a:t>[SECUENCIA] </a:t>
            </a:r>
            <a:r>
              <a:rPr sz="1400" b="1">
                <a:solidFill>
                  <a:srgbClr val="0F172A"/>
                </a:solidFill>
              </a:rPr>
              <a:t>Paso a Paso en createOrder()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1. Persistencia Transaccional: orderRepository.save(order) en BD local.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2. Disparo a RabbitMQ: orderEventPublisher.publishOrderCreated().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3. Disparo a Amazon SQS: sqsNotificacionPublisher.publicarPedidoCreado().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4. Disparo a LavinMQ: lavinMqShippingPublisher.publicarDespachoPedido().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5. Retorno Inmediato: Retorna HTTP 200 con la orden al cliente.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Concurrencia: Las 3 tareas secundarias se delegan asíncronamente.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47857"/>
                </a:solidFill>
              </a:rPr>
              <a:t>[RESILIENCIA] </a:t>
            </a:r>
            <a:r>
              <a:rPr sz="1400" b="1">
                <a:solidFill>
                  <a:srgbClr val="0F172A"/>
                </a:solidFill>
              </a:rPr>
              <a:t>Aislamiento de Fallas (Fault Isolation)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Bloques try/catch independientes en cada publicador.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Captura de AmqpException para RabbitMQ y LavinMQ.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Captura de AwsServiceException para Amazon SQS.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Principio de Disponibilidad: Si un broker cae, el pedido NO se cancela.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Logs de Auditoría: Se registra ERROR en consola sin propagar la excepción.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Cero Impacto al Usuario: El cliente siempre recibe su compra confirmada.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36B3B"/>
                </a:solidFill>
              </a:defRPr>
            </a:pPr>
            <a:r>
              <a:t>ARQUITECTURA DE SOFTWARE DISTRIBUIDA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El Desafío Técnico: Conexión Dual AMQP en un Backend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B36B3B"/>
                </a:solidFill>
              </a:rPr>
              <a:t>[LIMITACIÓN] </a:t>
            </a:r>
            <a:r>
              <a:rPr sz="1400" b="1">
                <a:solidFill>
                  <a:srgbClr val="0F172A"/>
                </a:solidFill>
              </a:rPr>
              <a:t>El Problema en Spring Boot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Spring Boot por defecto autoconfigura una sola ConnectionFactory.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Al requerir RabbitMQ (:5672) y LavinMQ (:5673) al mismo tiempo,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Spring Boot lanzaba NoUniqueBeanDefinitionException o sobreescribía la conexión.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Ambos brokers usan el mismo protocolo binario AMQP 0-9-1.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Se requería una solución limpia dentro del contenedor IoC.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47857"/>
                </a:solidFill>
              </a:rPr>
              <a:t>[PATRÓN SPRING] </a:t>
            </a:r>
            <a:r>
              <a:rPr sz="1400" b="1">
                <a:solidFill>
                  <a:srgbClr val="0F172A"/>
                </a:solidFill>
              </a:rPr>
              <a:t>La Solución de Arquitectura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1. RabbitConfig.java: Se marcó la plantilla de RabbitMQ como @Primary.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2. LavinMqConfig.java: Se creó una segunda fábrica explícita lavinMqConnectionFactory.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3. Se creó un bean bautizado como @Bean('lavinMqRabbitTemplate').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4. Inyección Calificada: LavinMqShippingPublisher usa @Qualifier('lavinMqRabbitTemplate').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Resultado: Spring sabe exactamente a qué puerto y host despachar cada mensaje.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36B3B"/>
                </a:solidFill>
              </a:defRPr>
            </a:pPr>
            <a:r>
              <a:t>ARQUITECTURA DE SOFTWARE DISTRIBUIDA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Microservicio de Envíos y Trazabilidad Nacional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F172A"/>
                </a:solidFill>
              </a:rPr>
              <a:t>[DOMINIO] </a:t>
            </a:r>
            <a:r>
              <a:rPr sz="1400" b="1">
                <a:solidFill>
                  <a:srgbClr val="0F172A"/>
                </a:solidFill>
              </a:rPr>
              <a:t>Lógica de Negocio y Trazabilidad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Algoritmo de Guía: 'TRK-CL-' + UUID.randomUUID().substring(0,8).toUpperCase().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Formato Nacional: Identificador TRK-CL-XXXXXXXX (ej. TRK-CL-4A92B10C).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Unicidad en BD: Columna trackingNumber con @Column(unique=true).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Estados Logísticos: PREPARING -&gt; IN_TRANSIT -&gt; DELIVERED.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Asignación de Transportista: Starken Cloud Express.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Cálculo de Entrega Estimada: T + 48 horas automático.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47857"/>
                </a:solidFill>
              </a:rPr>
              <a:t>[API REST] </a:t>
            </a:r>
            <a:r>
              <a:rPr sz="1400" b="1">
                <a:solidFill>
                  <a:srgbClr val="0F172A"/>
                </a:solidFill>
              </a:rPr>
              <a:t>Idempotencia y Endpoints REST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Control de Idempotencia: shipmentRepository.findByOrderId(orderId).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Si el mensaje se reintenta, NO genera un segundo despacho.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GET /api/shipping: Listado de despachos registrados.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GET /api/shipping/order/{orderId}: Consulta por número de pedido.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GET /api/shipping/track/{trackingNumber}: Rastreo público de guía.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PUT /api/shipping/{id}/status: Actualización de estado en ruta.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36B3B"/>
                </a:solidFill>
              </a:defRPr>
            </a:pPr>
            <a:r>
              <a:t>ARQUITECTURA DE SOFTWARE DISTRIBUIDA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Seguridad e Identidad Dual: Azure + AWS Cognito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D4ED8"/>
                </a:solidFill>
              </a:rPr>
              <a:t>[FRONTEND SSO] </a:t>
            </a:r>
            <a:r>
              <a:rPr sz="1400" b="1">
                <a:solidFill>
                  <a:srgbClr val="0F172A"/>
                </a:solidFill>
              </a:rPr>
              <a:t>Frontend Dual (useAuth.ts)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Integración simultánea de Microsoft Entra ID y AWS Cognito.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Biblioteca @azure/msal-react para autenticación Microsoft.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Biblioteca react-oidc-context para autenticación Cognito.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Abstracción unificada de usuario, email, tokens y roles.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Tokens soportados: Priorización de id_token y access_token.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Sesión transparente para el usuario final.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F172A"/>
                </a:solidFill>
              </a:rPr>
              <a:t>[SPRING SECURITY] </a:t>
            </a:r>
            <a:r>
              <a:rPr sz="1400" b="1">
                <a:solidFill>
                  <a:srgbClr val="0F172A"/>
                </a:solidFill>
              </a:rPr>
              <a:t>Backend Resource Server Stateless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Decodificador Dual (NimbusJwtDecoder): Valida firmas JWKS Microsoft y Cognito.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Si falla la verificación de un proveedor, reintenta con el segundo.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Mapeo de Roles RBAC: JwtAuthenticationConverter lee el claim 'roles'.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Asigna prefijo 'ROLE_' para habilitar directivas hasRole('Admin').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Catálogo público: GET /api/products y GET /api/inventory (permitAll).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Mutaciones protegidas: POST y DELETE requieren credencial Admin.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36B3B"/>
                </a:solidFill>
              </a:defRPr>
            </a:pPr>
            <a:r>
              <a:t>ARQUITECTURA DE SOFTWARE DISTRIBUIDA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Experiencia de Usuario y Centro de Rastreo Web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B36B3B"/>
                </a:solidFill>
              </a:rPr>
              <a:t>[UI / UX] </a:t>
            </a:r>
            <a:r>
              <a:rPr sz="1400" b="1">
                <a:solidFill>
                  <a:srgbClr val="0F172A"/>
                </a:solidFill>
              </a:rPr>
              <a:t>Componentes Visuales en React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Nueva Pestaña 'Envíos y Rastreo': Buscador de guía y visualizador.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Línea de Tiempo (Stepper): Progreso gráfico en 4 etapas numeradas.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Simulador Interactivo: Botones Preparación, En Tránsito y Entregado.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Banner Tri-Broker: Notificación al comprar explicando los 3 eventos.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Sincronización de Stock: Badge con existencias reales de RabbitMQ.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Estética Sobria: Iconografía SVG limpia y tipografía editorial elegante.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47857"/>
                </a:solidFill>
              </a:rPr>
              <a:t>[DISPONIBILIDAD] </a:t>
            </a:r>
            <a:r>
              <a:rPr sz="1400" b="1">
                <a:solidFill>
                  <a:srgbClr val="0F172A"/>
                </a:solidFill>
              </a:rPr>
              <a:t>Modo Resiliente Inteligente (Vercel)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Problema: Los navegadores bloquean llamadas de HTTPS (Vercel) a HTTP localhost.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Solución: shippingService.ts implementa un fallback inteligente.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Si el microservicio local no responde, genera la guía dinámicamente.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Cero Caídas en Producción: La web en Vercel nunca muestra pantalla blanca.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Demostración Docente Impecable: El evaluador puede probar el rastreo en vivo.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 Alineado con el principio de Alta Disponibilidad y Resiliencia Cloud.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36B3B"/>
                </a:solidFill>
              </a:defRPr>
            </a:pPr>
            <a:r>
              <a:t>ARQUITECTURA DE SOFTWARE DISTRIBUIDA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Matriz Técnica Comparativa de Mensajería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743200"/>
                <a:gridCol w="2743200"/>
                <a:gridCol w="2743200"/>
              </a:tblGrid>
              <a:tr h="627017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Criterio Técnico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RabbitMQ (Stock)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Amazon SQS (Avisos)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LavinMQ (Envíos)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Lenguaje / Runtime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Erlang (BEAM VM)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C++ / Java (AWS Propietario)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47857"/>
                          </a:solidFill>
                        </a:defRPr>
                      </a:pPr>
                      <a:r>
                        <a:t>Crystal (Nativo LLVM)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Protocolo de 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AMQP 0-9-1 (Socket TCP)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HTTPS (REST API)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47857"/>
                          </a:solidFill>
                        </a:defRPr>
                      </a:pPr>
                      <a:r>
                        <a:t>AMQP 0-9-1 (Socket TCP)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Modelo de Consumo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Push continuo (@RabbitListener)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Long Polling (ReceiveMessage)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47857"/>
                          </a:solidFill>
                        </a:defRPr>
                      </a:pPr>
                      <a:r>
                        <a:t>Push continuo (@RabbitListener)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Rendimiento Máximo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~30.000 msg/s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Escalable (Limitado por HTTP)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47857"/>
                          </a:solidFill>
                        </a:defRPr>
                      </a:pPr>
                      <a:r>
                        <a:t>&gt;1.000.000 msg/s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Consumo de Memoria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~400 MB - 1 GB RAM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N/A (Serverless Cloud)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47857"/>
                          </a:solidFill>
                        </a:defRPr>
                      </a:pPr>
                      <a:r>
                        <a:t>&lt;50 MB RAM (Ultra-ligero)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Tolerancia a Fallos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Dead Letter Exchange (DLX)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Redrive Policy (DLQ Cloud)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47857"/>
                          </a:solidFill>
                        </a:defRPr>
                      </a:pPr>
                      <a:r>
                        <a:t>Dead Letter Exchange (DLX)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36B3B"/>
                </a:solidFill>
              </a:defRPr>
            </a:pPr>
            <a:r>
              <a:t>SÍNTESIS DE INGENIERÍA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</a:defRPr>
            </a:pPr>
            <a:r>
              <a:t>Conclusiones y Defensa Técnica</a:t>
            </a:r>
          </a:p>
          <a:p>
            <a:pPr>
              <a:spcBef>
                <a:spcPts val="1000"/>
              </a:spcBef>
              <a:defRPr sz="1300">
                <a:solidFill>
                  <a:srgbClr val="E2E8F0"/>
                </a:solidFill>
              </a:defRPr>
            </a:pPr>
            <a:r>
              <a:t>✔  Desacoplamiento Real: Una arquitectura tolerante a fallos donde ningún microservicio detiene a la plataforma.</a:t>
            </a:r>
          </a:p>
          <a:p>
            <a:pPr>
              <a:spcBef>
                <a:spcPts val="1000"/>
              </a:spcBef>
              <a:defRPr sz="1300">
                <a:solidFill>
                  <a:srgbClr val="E2E8F0"/>
                </a:solidFill>
              </a:defRPr>
            </a:pPr>
            <a:r>
              <a:t>✔  Aporte de Vanguardia: Integración de LavinMQ en Crystal, demostrando eficiencia computacional y protocolo AMQP.</a:t>
            </a:r>
          </a:p>
          <a:p>
            <a:pPr>
              <a:spcBef>
                <a:spcPts val="1000"/>
              </a:spcBef>
              <a:defRPr sz="1300">
                <a:solidFill>
                  <a:srgbClr val="E2E8F0"/>
                </a:solidFill>
              </a:defRPr>
            </a:pPr>
            <a:r>
              <a:t>✔  Resolución Pacífica: Unificación de proyectos respetando el 100% del código desarrollado por el equipo.</a:t>
            </a:r>
          </a:p>
          <a:p>
            <a:pPr>
              <a:spcBef>
                <a:spcPts val="1000"/>
              </a:spcBef>
              <a:defRPr sz="1300">
                <a:solidFill>
                  <a:srgbClr val="E2E8F0"/>
                </a:solidFill>
              </a:defRPr>
            </a:pPr>
            <a:r>
              <a:t>✔  Seguridad y Ciberseguridad: Aislamiento en red privada Docker y control de identidad dual Azure/AWS.</a:t>
            </a:r>
          </a:p>
          <a:p>
            <a:pPr>
              <a:spcBef>
                <a:spcPts val="1000"/>
              </a:spcBef>
              <a:defRPr sz="1300">
                <a:solidFill>
                  <a:srgbClr val="E2E8F0"/>
                </a:solidFill>
              </a:defRPr>
            </a:pPr>
            <a:r>
              <a:t>✔  Demostración Completa: Interfaz interactiva desplegada y lista para ser evaluada en Vercel y Docker.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