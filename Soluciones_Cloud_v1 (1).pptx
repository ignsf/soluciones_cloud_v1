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SOLUCIONES CLOUD v1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2000">
                <a:solidFill>
                  <a:srgbClr val="1C7293"/>
                </a:solidFill>
                <a:latin typeface="Calibri"/>
              </a:defRPr>
            </a:pPr>
            <a:r>
              <a:t>Arquitectura Cloud Native Multi-Cloud, Mensajería Asíncrona Tri-Broker y Microservicios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7091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Cloud Native I (DSY1107)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 · Duoc UC
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del Proyecto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Plataforma de e-commerce desplegada sobre una arquitectura multi-cloud desacoplada, con mensajería asíncrona Tri-Broker y persistencia administrada.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476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947672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TypeScript, servido desde Vercel Edge Network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8529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BFF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78892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3.4 (Java 17) desplegado en Render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6941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6301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de red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63016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 como proxy inverso y filtrado perimetral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3542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45354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714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Mensajería Tri-Broker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471416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t>RabbitMQ, Amazon SQS y LavinMQ para procesamiento asíncrono y desacoplado de órdenes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766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376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3126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5312664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15+ administrado en Supabase Cloud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General del 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(Cliente)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108960" y="14173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08960" y="14173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50000" y="4150000"/>
            <a:ext cx="3850000" cy="105000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50000" y="4150000"/>
            <a:ext cx="385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RabbitMQ (:5672) &amp; Amazon SQS</a:t>
            </a:r>
            <a:endParaRPr lang="en-US" sz="1250" dirty="0"/>
          </a:p>
          <a:p>
            <a:pPr algn="ctr">
              <a:defRPr sz="1000" b="0">
                <a:solidFill>
                  <a:srgbClr val="E9F2F6"/>
                </a:solidFill>
                <a:latin typeface="Calibri"/>
              </a:defRPr>
            </a:pPr>
            <a:r>
              <a:t>Eventos 'order.created' (AMQP / SQS)</a:t>
            </a:r>
          </a:p>
          <a:p>
            <a:pPr algn="ctr">
              <a:defRPr sz="900" b="0">
                <a:solidFill>
                  <a:srgbClr val="E9F2F6"/>
                </a:solidFill>
                <a:latin typeface="Calibri"/>
              </a:defRPr>
            </a:pPr>
            <a:r>
              <a:t>inventory-service (:8081) · notificaciones (:8082)</a:t>
            </a:r>
          </a:p>
        </p:txBody>
      </p:sp>
      <p:sp>
        <p:nvSpPr>
          <p:cNvPr id="9" name="Shape 7"/>
          <p:cNvSpPr/>
          <p:nvPr/>
        </p:nvSpPr>
        <p:spPr>
          <a:xfrm>
            <a:off x="7700000" y="4150000"/>
            <a:ext cx="3912880" cy="105000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00000" y="4150000"/>
            <a:ext cx="391288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LavinMQ Broker (:5673) [Crystal]</a:t>
            </a:r>
            <a:endParaRPr lang="en-US" sz="1250" dirty="0"/>
          </a:p>
          <a:p>
            <a:pPr algn="ctr">
              <a:defRPr sz="1000" b="0">
                <a:solidFill>
                  <a:srgbClr val="E9F2F6"/>
                </a:solidFill>
                <a:latin typeface="Calibri"/>
              </a:defRPr>
            </a:pPr>
            <a:r>
              <a:t>shipping.exchange → shipping.order-created.queue</a:t>
            </a:r>
          </a:p>
          <a:p>
            <a:pPr algn="ctr">
              <a:defRPr sz="900" b="0">
                <a:solidFill>
                  <a:srgbClr val="E9F2F6"/>
                </a:solidFill>
                <a:latin typeface="Calibri"/>
              </a:defRPr>
            </a:pPr>
            <a:r>
              <a:t>shipping-service (:8083) + Dead Letter Queue (DLQ)</a:t>
            </a:r>
          </a:p>
        </p:txBody>
      </p:sp>
      <p:sp>
        <p:nvSpPr>
          <p:cNvPr id="11" name="Shape 9"/>
          <p:cNvSpPr/>
          <p:nvPr/>
        </p:nvSpPr>
        <p:spPr>
          <a:xfrm>
            <a:off x="5852160" y="14173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52160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(Perímetro)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0" y="288036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98280" y="29992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Cloud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(BFF)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98280" y="3611880"/>
            <a:ext cx="237744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9828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98280" y="4114800"/>
            <a:ext cx="2377440" cy="411480"/>
          </a:xfrm>
          <a:prstGeom prst="rect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9828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98280" y="4617720"/>
            <a:ext cx="2377440" cy="411480"/>
          </a:xfrm>
          <a:prstGeom prst="rect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4617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150000"/>
            <a:ext cx="2400000" cy="105000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150000"/>
            <a:ext cx="24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sz="1300" b="1">
                <a:solidFill>
                  <a:srgbClr val="FFFFFF"/>
                </a:solidFill>
                <a:latin typeface="Calibri"/>
              </a:defRPr>
            </a:pPr>
            <a:r>
              <a:t>Supabase Cloud</a:t>
            </a:r>
            <a:endParaRPr lang="en-US" sz="1250" dirty="0"/>
          </a:p>
          <a:p>
            <a:pPr algn="ctr">
              <a:defRPr sz="1000" b="0">
                <a:solidFill>
                  <a:srgbClr val="E9F2F6"/>
                </a:solidFill>
                <a:latin typeface="Calibri"/>
              </a:defRPr>
            </a:pPr>
            <a:r>
              <a:t>PostgreSQL 15+ (Persistencia)</a:t>
            </a:r>
          </a:p>
          <a:p>
            <a:pPr algn="ctr">
              <a:defRPr sz="900" b="0">
                <a:solidFill>
                  <a:srgbClr val="E9F2F6"/>
                </a:solidFill>
                <a:latin typeface="Calibri"/>
              </a:defRPr>
            </a:pPr>
            <a:r>
              <a:t>Entidades Order &amp; OrderItem</a:t>
            </a:r>
          </a:p>
        </p:txBody>
      </p:sp>
      <p:sp>
        <p:nvSpPr>
          <p:cNvPr id="23" name="Shape 21"/>
          <p:cNvSpPr/>
          <p:nvPr/>
        </p:nvSpPr>
        <p:spPr>
          <a:xfrm>
            <a:off x="2651760" y="1805940"/>
            <a:ext cx="457200" cy="0"/>
          </a:xfrm>
          <a:prstGeom prst="line">
            <a:avLst/>
          </a:prstGeom>
          <a:noFill/>
          <a:ln w="22225">
            <a:solidFill>
              <a:srgbClr val="5C7A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94960" y="1805940"/>
            <a:ext cx="457200" cy="0"/>
          </a:xfrm>
          <a:prstGeom prst="line">
            <a:avLst/>
          </a:prstGeom>
          <a:noFill/>
          <a:ln w="22225">
            <a:solidFill>
              <a:srgbClr val="5C7A8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61120" y="3700000"/>
            <a:ext cx="-5921040" cy="450000"/>
          </a:xfrm>
          <a:prstGeom prst="line">
            <a:avLst/>
          </a:prstGeom>
          <a:noFill/>
          <a:ln w="22225">
            <a:solidFill>
              <a:srgbClr val="5C7A8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503920" y="1805940"/>
            <a:ext cx="457200" cy="0"/>
          </a:xfrm>
          <a:prstGeom prst="line">
            <a:avLst/>
          </a:prstGeom>
          <a:noFill/>
          <a:ln w="22225">
            <a:solidFill>
              <a:srgbClr val="5C7A8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0" y="0"/>
            <a:ext cx="0" cy="0"/>
          </a:xfrm>
          <a:prstGeom prst="line">
            <a:avLst/>
          </a:prstGeom>
          <a:noFill/>
          <a:ln w="22225">
            <a:solidFill>
              <a:srgbClr val="5C7A8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56000" y="3749040"/>
            <a:ext cx="0" cy="400000"/>
          </a:xfrm>
          <a:prstGeom prst="line">
            <a:avLst/>
          </a:prstGeom>
          <a:noFill/>
          <a:ln w="22225">
            <a:solidFill>
              <a:srgbClr val="5C7A8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961120" y="3600000"/>
            <a:ext cx="-1661120" cy="550000"/>
          </a:xfrm>
          <a:prstGeom prst="line">
            <a:avLst/>
          </a:prstGeom>
          <a:noFill/>
          <a:ln w="22225">
            <a:solidFill>
              <a:srgbClr val="5C7A88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100">
                <a:solidFill>
                  <a:srgbClr val="5C7A88"/>
                </a:solidFill>
                <a:latin typeface="Calibri"/>
              </a:defRPr>
            </a:pPr>
            <a:r>
              <a:t>Flujo: Navegador → API Gateway → Order Service (BFF) → Persistencia DB + Emisión asíncrona concurrente a RabbitMQ, SQS y LavinMQ.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de Arquitectura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E9F2F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(SaaS/PaaS) en vez de servidores autogestionados; escalamiento y alta disponibilidad inherentes.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E9F2F6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331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Desacoplado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7432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plataformas (Vercel, AWS, Azure, Render, Supabase) evitan el vendor lock-in y optimizan cada capa.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E9F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331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BFF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7432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en Spring Boot centraliza reglas de negocio, validación y orquestación antes de tocar la base de datos.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E9F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0749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700" b="1">
                <a:solidFill>
                  <a:srgbClr val="21295C"/>
                </a:solidFill>
                <a:latin typeface="Calibri"/>
              </a:defRPr>
            </a:pPr>
            <a:r>
              <a:t>Orientación a Eventos (EDA)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4864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300">
                <a:solidFill>
                  <a:srgbClr val="1A2733"/>
                </a:solidFill>
                <a:latin typeface="Calibri"/>
              </a:defRPr>
            </a:pPr>
            <a:r>
              <a:t>Desacoplamiento temporal total entre la compra y los procesos de inventario, alertas y despacho mediante colas y eventos asíncronos.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89120" y="416052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E9F2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4434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50749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700" b="1">
                <a:solidFill>
                  <a:srgbClr val="21295C"/>
                </a:solidFill>
                <a:latin typeface="Calibri"/>
              </a:defRPr>
            </a:pPr>
            <a:r>
              <a:t>Aislamiento de Fallos (Fault Isolation)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548640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300">
                <a:solidFill>
                  <a:srgbClr val="1A2733"/>
                </a:solidFill>
                <a:latin typeface="Calibri"/>
              </a:defRPr>
            </a:pPr>
            <a:r>
              <a:t>Bloques try/catch independientes por broker: la caída de LavinMQ o SQS jamás cancela la transacción ni interrumpe el checkout del usuario.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Diseño — Backend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· Java 17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841248"/>
          </a:xfrm>
          <a:prstGeom prst="rect">
            <a:avLst/>
          </a:prstGeom>
          <a:solidFill>
            <a:srgbClr val="E9F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3291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600200"/>
            <a:ext cx="7040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 → Model: separa exposición HTTP, lógica de negocio y persistencia.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1088136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441448"/>
            <a:ext cx="3291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441448"/>
            <a:ext cx="7040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abstrae el acceso a datos y desacopla el dominio del SQL nativo.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82696"/>
            <a:ext cx="10881360" cy="841248"/>
          </a:xfrm>
          <a:prstGeom prst="rect">
            <a:avLst/>
          </a:prstGeom>
          <a:solidFill>
            <a:srgbClr val="E9F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282696"/>
            <a:ext cx="3291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of Control / DI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282696"/>
            <a:ext cx="7040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de Spring gestiona el ciclo de vida de los componentes vía inyección por constructor.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1088136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123944"/>
            <a:ext cx="3291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700" b="1">
                <a:solidFill>
                  <a:srgbClr val="21295C"/>
                </a:solidFill>
                <a:latin typeface="Calibri"/>
              </a:defRPr>
            </a:pPr>
            <a:r>
              <a:t>Multi-Broker Beans (@Qualifier)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123944"/>
            <a:ext cx="7040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300">
                <a:solidFill>
                  <a:srgbClr val="1A2733"/>
                </a:solidFill>
                <a:latin typeface="Calibri"/>
              </a:defRPr>
            </a:pPr>
            <a:r>
              <a:t>Inyección dinámica con CachingConnectionFactory independientes y @Qualifier('lavinMqRabbitTemplate') para coexistencia sin colisión.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965192"/>
            <a:ext cx="10881360" cy="841248"/>
          </a:xfrm>
          <a:prstGeom prst="rect">
            <a:avLst/>
          </a:prstGeom>
          <a:solidFill>
            <a:srgbClr val="E9F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965192"/>
            <a:ext cx="3291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700" b="1">
                <a:solidFill>
                  <a:srgbClr val="21295C"/>
                </a:solidFill>
                <a:latin typeface="Calibri"/>
              </a:defRPr>
            </a:pPr>
            <a:r>
              <a:t>Dead Letter Queue &amp; Idempotencia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965192"/>
            <a:ext cx="7040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300">
                <a:solidFill>
                  <a:srgbClr val="1A2733"/>
                </a:solidFill>
                <a:latin typeface="Calibri"/>
              </a:defRPr>
            </a:pPr>
            <a:r>
              <a:t>Enrutamiento a DLX (AmqpRejectAndDontRequeueException) ante fallos críticos y control por orderId único evitando despachos duplicados.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Diseño — Frontend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· Vite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E9F2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38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0136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Architecture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80136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ProductList, ProductCard y ProductForm como unidades visuales aisladas.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7FBFC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081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94436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700" b="1">
                <a:solidFill>
                  <a:srgbClr val="21295C"/>
                </a:solidFill>
                <a:latin typeface="Calibri"/>
              </a:defRPr>
            </a:pPr>
            <a:r>
              <a:t>Custom Hook &amp; State Pattern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94436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300">
                <a:solidFill>
                  <a:srgbClr val="1A2733"/>
                </a:solidFill>
                <a:latin typeface="Calibri"/>
              </a:defRPr>
            </a:pPr>
            <a:r>
              <a:t>useCart.ts y useOrders.ts encapsulan el estado reactivo del checkout, emisión de compras y consulta asíncrona de estados de despacho.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E9F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24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08736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/ API Adapter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408736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productService.ts y orderService.ts aíslan el cliente HTTP y la transformación de datos.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7FB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3675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367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23036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Type Synchronization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852160" y="523036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TypeScript sincronizados con las entidades del backend para detectar errores en compilación.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2800" b="1">
                <a:solidFill>
                  <a:srgbClr val="21295C"/>
                </a:solidFill>
                <a:latin typeface="Cambria"/>
              </a:defRPr>
            </a:pPr>
            <a:r>
              <a:t>Mensajería Asíncrona — Arquitectura Tri-Broker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82880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1508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1400" b="1">
                <a:solidFill>
                  <a:srgbClr val="FFFFFF"/>
                </a:solidFill>
                <a:latin typeface="Calibri"/>
              </a:defRPr>
            </a:pPr>
            <a:r>
              <a:t>Backend Core (:8080)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1100">
                <a:solidFill>
                  <a:srgbClr val="E9F2F6"/>
                </a:solidFill>
                <a:latin typeface="Calibri"/>
              </a:defRPr>
            </a:pPr>
            <a:r>
              <a:t>OrderService persiste orden</a:t>
            </a:r>
            <a:br/>
            <a:r>
              <a:t>y despacha 3 eventos paralelos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283464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182880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508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RabbitMQ (:5672)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6060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1100">
                <a:solidFill>
                  <a:srgbClr val="E9F2F6"/>
                </a:solidFill>
                <a:latin typeface="Calibri"/>
              </a:defRPr>
            </a:pPr>
            <a:r>
              <a:t>AMQP push directo a</a:t>
            </a:r>
            <a:br/>
            <a:r>
              <a:t>inventory-service (:8081)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83464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63640" y="182880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7223760" y="1508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1400" b="1">
                <a:solidFill>
                  <a:srgbClr val="FFFFFF"/>
                </a:solidFill>
                <a:latin typeface="Calibri"/>
              </a:defRPr>
            </a:pPr>
            <a:r>
              <a:t>Amazon SQS (Cloud)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6060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1100">
                <a:solidFill>
                  <a:srgbClr val="E9F2F6"/>
                </a:solidFill>
                <a:latin typeface="Calibri"/>
              </a:defRPr>
            </a:pPr>
            <a:r>
              <a:t>Cola AWS con Long Polling (20s)</a:t>
            </a:r>
            <a:br/>
            <a:r>
              <a:t>hacia notificaciones (:8082)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32520" y="283464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182880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12680" y="1508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100126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8972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LavinMQ (:5673)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26060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1100">
                <a:solidFill>
                  <a:srgbClr val="E9F2F6"/>
                </a:solidFill>
                <a:latin typeface="Calibri"/>
              </a:defRPr>
            </a:pPr>
            <a:r>
              <a:t>Broker en Crystal ultraligero push</a:t>
            </a:r>
            <a:br/>
            <a:r>
              <a:t>hacia shipping-service (:8083)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1300">
                <a:solidFill>
                  <a:srgbClr val="21295C"/>
                </a:solidFill>
                <a:latin typeface="Calibri"/>
              </a:defRPr>
            </a:pPr>
            <a:r>
              <a:t>Topología de Evento: Payload JSON 'order.created' con orderId, customerId, items y timestamp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645920" y="5029200"/>
            <a:ext cx="8869680" cy="1234440"/>
          </a:xfrm>
          <a:prstGeom prst="roundRect">
            <a:avLst>
              <a:gd name="adj" fmla="val 5926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920240" y="5029200"/>
            <a:ext cx="8321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sz="1200" b="1">
                <a:solidFill>
                  <a:srgbClr val="FFFFFF"/>
                </a:solidFill>
                <a:latin typeface="Calibri"/>
              </a:rPr>
              <a:t>Fault Isolation Garantizado: </a:t>
            </a:r>
            <a:r>
              <a:rPr sz="1200" b="0">
                <a:solidFill>
                  <a:srgbClr val="FFFFFF"/>
                </a:solidFill>
                <a:latin typeface="Calibri"/>
              </a:rPr>
              <a:t>Cada broker opera en bloques try/catch independientes. Si SQS o LavinMQ se caen o sufren latencia, la orden responde HTTP 200 OK y el usuario completa su compra sin interrupción.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2800" b="1">
                <a:solidFill>
                  <a:srgbClr val="21295C"/>
                </a:solidFill>
                <a:latin typeface="Cambria"/>
              </a:defRPr>
            </a:pPr>
            <a:r>
              <a:t>LavinMQ &amp; Logística — Configuración y Resiliencia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Topología AMQP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100">
                <a:solidFill>
                  <a:srgbClr val="E9F2F6"/>
                </a:solidFill>
                <a:latin typeface="Calibri"/>
              </a:defRPr>
            </a:pPr>
            <a:r>
              <a:t>Exchange: shipping.exchange (Direct)</a:t>
            </a:r>
            <a:endParaRPr lang="en-US" sz="1200" dirty="0"/>
          </a:p>
          <a:p>
            <a:pPr>
              <a:defRPr sz="1100">
                <a:solidFill>
                  <a:srgbClr val="E9F2F6"/>
                </a:solidFill>
                <a:latin typeface="Calibri"/>
              </a:defRPr>
            </a:pPr>
            <a:r>
              <a:t>Queue: shipping.order-created.queue</a:t>
            </a:r>
          </a:p>
          <a:p>
            <a:pPr>
              <a:defRPr sz="1100">
                <a:solidFill>
                  <a:srgbClr val="E9F2F6"/>
                </a:solidFill>
                <a:latin typeface="Calibri"/>
              </a:defRPr>
            </a:pPr>
            <a:r>
              <a:t>Routing Key: order.created</a:t>
            </a:r>
          </a:p>
          <a:p>
            <a:pPr>
              <a:defRPr sz="1100">
                <a:solidFill>
                  <a:srgbClr val="E9F2F6"/>
                </a:solidFill>
                <a:latin typeface="Calibri"/>
              </a:defRPr>
            </a:pPr>
            <a:r>
              <a:t>Durabilidad: Colas persistidas en disco</a:t>
            </a:r>
          </a:p>
        </p:txBody>
      </p:sp>
      <p:sp>
        <p:nvSpPr>
          <p:cNvPr id="6" name="Shape 4"/>
          <p:cNvSpPr/>
          <p:nvPr/>
        </p:nvSpPr>
        <p:spPr>
          <a:xfrm>
            <a:off x="4389120" y="13716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15544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Tolerancia a Fallos (DLQ)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0574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100">
                <a:solidFill>
                  <a:srgbClr val="E9F2F6"/>
                </a:solidFill>
                <a:latin typeface="Calibri"/>
              </a:defRPr>
            </a:pPr>
            <a:r>
              <a:t>Dead Letter Exchange: shipping.dlx</a:t>
            </a:r>
            <a:endParaRPr lang="en-US" sz="1200" dirty="0"/>
          </a:p>
          <a:p>
            <a:pPr>
              <a:defRPr sz="1100">
                <a:solidFill>
                  <a:srgbClr val="E9F2F6"/>
                </a:solidFill>
                <a:latin typeface="Calibri"/>
              </a:defRPr>
            </a:pPr>
            <a:r>
              <a:t>Dead Letter Queue: shipping.order-created.dlq</a:t>
            </a:r>
          </a:p>
          <a:p>
            <a:pPr>
              <a:defRPr sz="1100">
                <a:solidFill>
                  <a:srgbClr val="E9F2F6"/>
                </a:solidFill>
                <a:latin typeface="Calibri"/>
              </a:defRPr>
            </a:pPr>
            <a:r>
              <a:t>Rechazo: AmqpRejectAndDontRequeue</a:t>
            </a:r>
          </a:p>
          <a:p>
            <a:pPr>
              <a:defRPr sz="1100">
                <a:solidFill>
                  <a:srgbClr val="E9F2F6"/>
                </a:solidFill>
                <a:latin typeface="Calibri"/>
              </a:defRPr>
            </a:pPr>
            <a:r>
              <a:t>Resiliencia: Aislamiento sin poison messages</a:t>
            </a:r>
          </a:p>
        </p:txBody>
      </p:sp>
      <p:sp>
        <p:nvSpPr>
          <p:cNvPr id="9" name="Shape 7"/>
          <p:cNvSpPr/>
          <p:nvPr/>
        </p:nvSpPr>
        <p:spPr>
          <a:xfrm>
            <a:off x="8138160" y="13716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66760" y="15544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500" b="1">
                <a:solidFill>
                  <a:srgbClr val="FFFFFF"/>
                </a:solidFill>
                <a:latin typeface="Calibri"/>
              </a:defRPr>
            </a:pPr>
            <a:r>
              <a:t>Trazabilidad &amp; Idempotencia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0574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  <a:defRPr sz="1100">
                <a:solidFill>
                  <a:srgbClr val="E9F2F6"/>
                </a:solidFill>
                <a:latin typeface="Calibri"/>
              </a:defRPr>
            </a:pPr>
            <a:r>
              <a:t>Tracking ID: TRK-CL-XXXXXXXX</a:t>
            </a:r>
            <a:endParaRPr lang="en-US" sz="1200" dirty="0"/>
          </a:p>
          <a:p>
            <a:pPr>
              <a:defRPr sz="1100">
                <a:solidFill>
                  <a:srgbClr val="E9F2F6"/>
                </a:solidFill>
                <a:latin typeface="Calibri"/>
              </a:defRPr>
            </a:pPr>
            <a:r>
              <a:t>Validación: findByOrderId() en PostgreSQL</a:t>
            </a:r>
          </a:p>
          <a:p>
            <a:pPr>
              <a:defRPr sz="1100">
                <a:solidFill>
                  <a:srgbClr val="E9F2F6"/>
                </a:solidFill>
                <a:latin typeface="Calibri"/>
              </a:defRPr>
            </a:pPr>
            <a:r>
              <a:t>Idempotencia: Sin despachos duplicados</a:t>
            </a:r>
          </a:p>
          <a:p>
            <a:pPr>
              <a:defRPr sz="1100">
                <a:solidFill>
                  <a:srgbClr val="E9F2F6"/>
                </a:solidFill>
                <a:latin typeface="Calibri"/>
              </a:defRPr>
            </a:pPr>
            <a:r>
              <a:t>Consumo: @RabbitListener asíncrono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640080" y="3520440"/>
            <a:ext cx="108813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200" b="1">
                <a:solidFill>
                  <a:srgbClr val="21295C"/>
                </a:solidFill>
                <a:latin typeface="Calibri"/>
              </a:rPr>
              <a:t>Resolución de Beans: </a:t>
            </a:r>
            <a:r>
              <a:rPr sz="1200" b="0">
                <a:solidFill>
                  <a:srgbClr val="1A2733"/>
                </a:solidFill>
                <a:latin typeface="Calibri"/>
              </a:rPr>
              <a:t>Configuración dual de CachingConnectionFactory y @Qualifier('lavinMqRabbitTemplate') para coexistencia armónica de RabbitMQ y LavinMQ en el mismo contexto Spring Boot.</a:t>
            </a:r>
            <a:endParaRPr lang="en-US" sz="1350" dirty="0"/>
          </a:p>
          <a:p>
            <a:r>
              <a:rPr sz="1200" b="1">
                <a:solidFill>
                  <a:srgbClr val="21295C"/>
                </a:solidFill>
                <a:latin typeface="Calibri"/>
              </a:rPr>
              <a:t>Ultra Rendimiento (LavinMQ): </a:t>
            </a:r>
            <a:r>
              <a:rPr sz="1200" b="0">
                <a:solidFill>
                  <a:srgbClr val="1A2733"/>
                </a:solidFill>
                <a:latin typeface="Calibri"/>
              </a:rPr>
              <a:t>Broker escrito en lenguaje Crystal, capaz de procesar &gt;1.000.000 msg/segundo con huella de memoria RAM 10x menor que soluciones tradicionales sobre JVM.</a:t>
            </a:r>
          </a:p>
          <a:p>
            <a:r>
              <a:rPr sz="1200" b="1">
                <a:solidFill>
                  <a:srgbClr val="21295C"/>
                </a:solidFill>
                <a:latin typeface="Calibri"/>
              </a:rPr>
              <a:t>Persistencia y Estado: </a:t>
            </a:r>
            <a:r>
              <a:rPr sz="1200" b="0">
                <a:solidFill>
                  <a:srgbClr val="1A2733"/>
                </a:solidFill>
                <a:latin typeface="Calibri"/>
              </a:rPr>
              <a:t>shipping-service procesa eventos en segundo plano, persiste la entidad Shipment en PostgreSQL y transiciona el ciclo de vida del despacho de forma desacoplada.</a:t>
            </a:r>
          </a:p>
          <a:p>
            <a:r>
              <a:rPr sz="1200" b="1">
                <a:solidFill>
                  <a:srgbClr val="21295C"/>
                </a:solidFill>
                <a:latin typeface="Calibri"/>
              </a:rPr>
              <a:t>Microservicios Aislados: </a:t>
            </a:r>
            <a:r>
              <a:rPr sz="1200" b="0">
                <a:solidFill>
                  <a:srgbClr val="1A2733"/>
                </a:solidFill>
                <a:latin typeface="Calibri"/>
              </a:rPr>
              <a:t>Total independencia de dominios de negocio entre inventario (:8081), alertas al comprador (:8082) y logística de transporte (:8083).</a:t>
            </a:r>
          </a:p>
        </p:txBody>
      </p:sp>
      <p:sp>
        <p:nvSpPr>
          <p:cNvPr id="13" name="Text 11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342900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342900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77440"/>
            <a:ext cx="2880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  <a:defRPr sz="1300">
                <a:solidFill>
                  <a:srgbClr val="1A2733"/>
                </a:solidFill>
                <a:latin typeface="Calibri"/>
              </a:defRPr>
            </a:pPr>
            <a:r>
              <a:t>React 19 + TypeScript</a:t>
            </a:r>
            <a:endParaRPr lang="en-US" sz="1250" dirty="0"/>
          </a:p>
          <a:p>
            <a:pPr>
              <a:defRPr sz="1300">
                <a:solidFill>
                  <a:srgbClr val="1A2733"/>
                </a:solidFill>
                <a:latin typeface="Calibri"/>
              </a:defRPr>
            </a:pPr>
            <a:r>
              <a:t>Vite 6 (Build Tool)</a:t>
            </a:r>
          </a:p>
          <a:p>
            <a:pPr>
              <a:defRPr sz="1300">
                <a:solidFill>
                  <a:srgbClr val="1A2733"/>
                </a:solidFill>
                <a:latin typeface="Calibri"/>
              </a:defRPr>
            </a:pPr>
            <a:r>
              <a:t>Axios / REST Client</a:t>
            </a:r>
          </a:p>
          <a:p>
            <a:pPr>
              <a:defRPr sz="1300">
                <a:solidFill>
                  <a:srgbClr val="1A2733"/>
                </a:solidFill>
                <a:latin typeface="Calibri"/>
              </a:defRPr>
            </a:pPr>
            <a:r>
              <a:t>Vercel Edge Network</a:t>
            </a:r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417320"/>
            <a:ext cx="342900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1783080"/>
            <a:ext cx="342900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89120" y="14173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377440"/>
            <a:ext cx="2880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  <a:defRPr sz="1300">
                <a:solidFill>
                  <a:srgbClr val="1A2733"/>
                </a:solidFill>
                <a:latin typeface="Calibri"/>
              </a:defRPr>
            </a:pPr>
            <a:r>
              <a:t>Spring Boot 3.4 / Java 17</a:t>
            </a:r>
            <a:endParaRPr lang="en-US" sz="1250" dirty="0"/>
          </a:p>
          <a:p>
            <a:pPr>
              <a:defRPr sz="1300">
                <a:solidFill>
                  <a:srgbClr val="1A2733"/>
                </a:solidFill>
                <a:latin typeface="Calibri"/>
              </a:defRPr>
            </a:pPr>
            <a:r>
              <a:t>Spring AMQP / RabbitMQ</a:t>
            </a:r>
          </a:p>
          <a:p>
            <a:pPr>
              <a:defRPr sz="1300">
                <a:solidFill>
                  <a:srgbClr val="1A2733"/>
                </a:solidFill>
                <a:latin typeface="Calibri"/>
              </a:defRPr>
            </a:pPr>
            <a:r>
              <a:t>AWS SDK v2 (SQS Client)</a:t>
            </a:r>
          </a:p>
          <a:p>
            <a:pPr>
              <a:defRPr sz="1300">
                <a:solidFill>
                  <a:srgbClr val="1A2733"/>
                </a:solidFill>
                <a:latin typeface="Calibri"/>
              </a:defRPr>
            </a:pPr>
            <a:r>
              <a:t>Spring Data JPA / Hibernate</a:t>
            </a:r>
          </a:p>
          <a:p>
            <a:pPr>
              <a:defRPr sz="1300">
                <a:solidFill>
                  <a:srgbClr val="1A2733"/>
                </a:solidFill>
                <a:latin typeface="Calibri"/>
              </a:defRPr>
            </a:pPr>
            <a:r>
              <a:t>Maven · Docker</a:t>
            </a:r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417320"/>
            <a:ext cx="3429000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1783080"/>
            <a:ext cx="3429000" cy="320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38160" y="141732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Cloud &amp; Mensajería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377440"/>
            <a:ext cx="2880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  <a:defRPr sz="1300">
                <a:solidFill>
                  <a:srgbClr val="1A2733"/>
                </a:solidFill>
                <a:latin typeface="Calibri"/>
              </a:defRPr>
            </a:pPr>
            <a:r>
              <a:t>RabbitMQ &amp; LavinMQ (AMQP)</a:t>
            </a:r>
            <a:endParaRPr lang="en-US" sz="1250" dirty="0"/>
          </a:p>
          <a:p>
            <a:pPr>
              <a:defRPr sz="1300">
                <a:solidFill>
                  <a:srgbClr val="1A2733"/>
                </a:solidFill>
                <a:latin typeface="Calibri"/>
              </a:defRPr>
            </a:pPr>
            <a:r>
              <a:t>Amazon SQS (AWS Cloud Queue)</a:t>
            </a:r>
          </a:p>
          <a:p>
            <a:pPr>
              <a:defRPr sz="1300">
                <a:solidFill>
                  <a:srgbClr val="1A2733"/>
                </a:solidFill>
                <a:latin typeface="Calibri"/>
              </a:defRPr>
            </a:pPr>
            <a:r>
              <a:t>Amazon API Gateway</a:t>
            </a:r>
          </a:p>
          <a:p>
            <a:pPr>
              <a:defRPr sz="1300">
                <a:solidFill>
                  <a:srgbClr val="1A2733"/>
                </a:solidFill>
                <a:latin typeface="Calibri"/>
              </a:defRPr>
            </a:pPr>
            <a:r>
              <a:t>Render (PaaS) · Docker</a:t>
            </a:r>
          </a:p>
          <a:p>
            <a:pPr>
              <a:defRPr sz="1300">
                <a:solidFill>
                  <a:srgbClr val="1A2733"/>
                </a:solidFill>
                <a:latin typeface="Calibri"/>
              </a:defRPr>
            </a:pPr>
            <a:r>
              <a:t>Supabase · PostgreSQL 15+</a:t>
            </a:r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9875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  <a:defRPr sz="1400">
                <a:solidFill>
                  <a:srgbClr val="E9F2F6"/>
                </a:solidFill>
                <a:latin typeface="Calibri"/>
              </a:defRPr>
            </a:pPr>
            <a:r>
              <a:t>La solución converge una arquitectura moderna — cloud native, multi-cloud, BFF y mensajería asíncrona Tri-Broker en un solo ecosistema coherente.</a:t>
            </a:r>
            <a:endParaRPr lang="en-US" sz="1500" dirty="0"/>
          </a:p>
          <a:p>
            <a:pPr>
              <a:defRPr sz="1400">
                <a:solidFill>
                  <a:srgbClr val="E9F2F6"/>
                </a:solidFill>
                <a:latin typeface="Calibri"/>
              </a:defRPr>
            </a:pPr>
            <a:r>
              <a:t>La orquestación asíncrona mediante RabbitMQ, SQS y LavinMQ desacopla completamente el inventario, las notificaciones y la logística del flujo transaccional.</a:t>
            </a:r>
          </a:p>
          <a:p>
            <a:pPr>
              <a:defRPr sz="1400">
                <a:solidFill>
                  <a:srgbClr val="E9F2F6"/>
                </a:solidFill>
                <a:latin typeface="Calibri"/>
              </a:defRPr>
            </a:pPr>
            <a:r>
              <a:t>Los patrones de Fault Isolation, Dead Letter Queue (DLQ) y resolución de beans con @Qualifier garantizan resiliencia y cero pérdidas de pedidos.</a:t>
            </a:r>
          </a:p>
          <a:p>
            <a:pPr>
              <a:defRPr sz="1400">
                <a:solidFill>
                  <a:srgbClr val="E9F2F6"/>
                </a:solidFill>
                <a:latin typeface="Calibri"/>
              </a:defRPr>
            </a:pPr>
            <a:r>
              <a:t>El resultado es una plataforma de alta concurrencia, tolerante a fallos de subsistemas externos y alineada con estándares de ingeniería de software empresarial.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822960" y="52120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Cloud Native I (DSY1107) — Duoc UC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2026-09-15T00:44:52Z</dcterms:created>
  <dcterms:modified xsi:type="dcterms:W3CDTF">2026-09-15T00:44:52Z</dcterms:modified>
</cp:coreProperties>
</file>