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DISCURSO DE APERTURA:</a:t>
            </a:r>
          </a:p>
          <a:p/>
          <a:p>
            <a:r>
              <a:t>• Buenos días estimado profesor y evaluadores.</a:t>
            </a:r>
          </a:p>
          <a:p>
            <a:r>
              <a:t>• Hoy presentamos 'Soluciones Cloud v1', una plataforma web de catálogo y gestión de inventario construida 100% bajo el paradigma Cloud Native.</a:t>
            </a:r>
          </a:p>
          <a:p>
            <a:r>
              <a:t>• El propósito central de este proyecto no fue solo crear una aplicación que funcione, sino demostrar una arquitectura desacoplada, resiliente y de seguridad bancaria: cero manejo de contraseñas locales, delegación en AWS Cognito y defensa perimetral con Amazon API Gateway.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PUNTOS CLAVE PARA EL DISCURSO:</a:t>
            </a:r>
          </a:p>
          <a:p/>
          <a:p>
            <a:r>
              <a:t>• Al diseñar este sistema nos preguntamos: ¿Por qué seguir guardando contraseñas en bases de datos locales en pleno 2025/2026?</a:t>
            </a:r>
          </a:p>
          <a:p>
            <a:r>
              <a:t>• Un monolito tradicional gestiona sesiones en memoria y almacena contraseñas, convirtiéndose en un blanco fácil para vulnerabilidades OWASP.</a:t>
            </a:r>
          </a:p>
          <a:p>
            <a:r>
              <a:t>• Nuestra solución adopta la filosofía Zero Trust: delegamos la identidad en un proveedor bancario (AWS Cognito), eliminamos el estado del backend mediante tokens JWT y distribuimos la carga en la nube.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PUNTOS CLAVE PARA EL DISCURSO:</a:t>
            </a:r>
          </a:p>
          <a:p/>
          <a:p>
            <a:r>
              <a:t>• Esta lámina ilustra las 4 capas de nuestra topología.</a:t>
            </a:r>
          </a:p>
          <a:p>
            <a:r>
              <a:t>• Capa 1: El frontend en Vercel es ligero y rápido; cualquiera puede ver el catálogo sin login.</a:t>
            </a:r>
          </a:p>
          <a:p>
            <a:r>
              <a:t>• Capa 2: Si el usuario desea gestionar productos, interactúa con AWS Cognito mediante Hosted UI.</a:t>
            </a:r>
          </a:p>
          <a:p>
            <a:r>
              <a:t>• Capa 3: El tráfico protegido viaja por Amazon API Gateway hacia nuestro backend en Render.</a:t>
            </a:r>
          </a:p>
          <a:p>
            <a:r>
              <a:t>• Capa 4: Los datos descansan de forma aislada en Supabase PostgreSQL. Cada pieza tiene una única responsabilidad bien definida.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PUNTOS CLAVE PARA EL DISCURSO (DEFENSA TÉCNICA):</a:t>
            </a:r>
          </a:p>
          <a:p/>
          <a:p>
            <a:r>
              <a:t>• Pregunta típica de examen: ¿Por qué usan PKCE en lugar del flujo OAuth clásico?</a:t>
            </a:r>
          </a:p>
          <a:p>
            <a:r>
              <a:t>• Respuesta: Porque React es una SPA (cliente público). En el navegador el código JavaScript es visible para cualquiera; no podemos esconder un 'Client Secret'.</a:t>
            </a:r>
          </a:p>
          <a:p>
            <a:r>
              <a:t>• PKCE soluciona esto generando un secreto temporal (code_verifier) y enviando su huella matemática (code_challenge) a Amazon. Cuando Amazon responde, el navegador demuestra que tiene el secreto original. Esto neutraliza los ataques de hombre en el medio (MITM).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PUNTOS CLAVE PARA EL DISCURSO:</a:t>
            </a:r>
          </a:p>
          <a:p/>
          <a:p>
            <a:r>
              <a:t>• Destacar el concepto de 'Defensa en Profundidad' (Defense in Depth).</a:t>
            </a:r>
          </a:p>
          <a:p>
            <a:r>
              <a:t>• No dependemos de un único punto de seguridad. Tenemos dos aduanas:</a:t>
            </a:r>
          </a:p>
          <a:p>
            <a:r>
              <a:t>  1. La aduana perimetral en Amazon API Gateway, que frena ataques o peticiones no autenticadas en la puerta de entrada sin molestar al servidor.</a:t>
            </a:r>
          </a:p>
          <a:p>
            <a:r>
              <a:t>  2. La aduana interna en Spring Security, que verifica criptográficamente que el token pertenezca a nuestro User Pool exacto y extrae la identidad del usuario.</a:t>
            </a:r>
          </a:p>
          <a:p>
            <a:r>
              <a:t>• Esto protege la infraestructura contra denegación de servicio y ahorra costos.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PUNTOS CLAVE PARA EL DISCURSO:</a:t>
            </a:r>
          </a:p>
          <a:p/>
          <a:p>
            <a:r>
              <a:t>• Explicar de forma muy pedagógica qué es un JWT:</a:t>
            </a:r>
          </a:p>
          <a:p>
            <a:r>
              <a:t>• Tres partes separadas por puntos y codificadas en Base64Url: Header, Payload y Firma.</a:t>
            </a:r>
          </a:p>
          <a:p>
            <a:r>
              <a:t>• Lo fundamental es la firma: Amazon firma con su llave PRIVADA en la nube. Nuestro backend solo descarga la llave PÚBLICA (JWKS) para verificar la autenticidad.</a:t>
            </a:r>
          </a:p>
          <a:p>
            <a:r>
              <a:t>• Como la verificación es matemática y local, el backend responde en microsegundos sin hacer consultas a bases de datos de usuarios.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PUNTOS CLAVE PARA EL DISCURSO:</a:t>
            </a:r>
          </a:p>
          <a:p/>
          <a:p>
            <a:r>
              <a:t>• En el backend configuramos Spring Boot 3.4 como un OAuth2 Resource Server formal.</a:t>
            </a:r>
          </a:p>
          <a:p>
            <a:r>
              <a:t>• Eliminamos la sesión del servidor: SessionCreationPolicy.STATELESS.</a:t>
            </a:r>
          </a:p>
          <a:p>
            <a:r>
              <a:t>• Cuando llega un producto nuevo, Spring Boot extrae el email del token verificado. No hay posibilidad de que un usuario suplante la identidad de otro, porque el token está blindado criptográficamente.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PUNTOS CLAVE PARA EL DISCURSO:</a:t>
            </a:r>
          </a:p>
          <a:p/>
          <a:p>
            <a:r>
              <a:t>• Pregunta típica: ¿Por qué conectarse por el puerto 5432 (Session Pooler) en Supabase?</a:t>
            </a:r>
          </a:p>
          <a:p>
            <a:r>
              <a:t>• Respuesta: Porque los entornos Cloud como Render generan conexiones dinámicas. El Session Pooler gestiona eficientemente el ciclo de vida de las conexiones y evita que se agoten los sockets de PostgreSQL.</a:t>
            </a:r>
          </a:p>
          <a:p>
            <a:r>
              <a:t>• Además, mediante Spring Data JPA e Hibernate, el esquema se valida automáticamente al iniciar la aplicación.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PARA LA DEMOSTRACIÓN ANTE LA COMISIÓN:</a:t>
            </a:r>
          </a:p>
          <a:p/>
          <a:p>
            <a:r>
              <a:t>1. Mostrar la URL de Vercel (https://soluciones-cloud-v1.vercel.app): evidenciar que los productos cargan sin login.</a:t>
            </a:r>
          </a:p>
          <a:p>
            <a:r>
              <a:t>2. Abrir la pestaña 'Network' (Red) en las herramientas de desarrollador del navegador.</a:t>
            </a:r>
          </a:p>
          <a:p>
            <a:r>
              <a:t>3. Pulsar 'Iniciar sesión con Cognito' y mostrar la URL de amazon cognito en la barra de direcciones.</a:t>
            </a:r>
          </a:p>
          <a:p>
            <a:r>
              <a:t>4. Iniciar sesión y crear un producto nuevo (ej. 'Monitor Gamer 4K').</a:t>
            </a:r>
          </a:p>
          <a:p>
            <a:r>
              <a:t>5. Señalar en la consola de red la cabecera 'Authorization: Bearer' y el código HTTP 201 Created.</a:t>
            </a:r>
          </a:p>
          <a:p>
            <a:r>
              <a:t>6. Mostrar el nuevo producto visible en la lista.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FORMAL:</a:t>
            </a:r>
          </a:p>
          <a:p/>
          <a:p>
            <a:r>
              <a:t>• Con esto concluimos la defensa de nuestra arquitectura para 'Soluciones Cloud v1'.</a:t>
            </a:r>
          </a:p>
          <a:p>
            <a:r>
              <a:t>• Hemos demostrado que es posible construir una solución de comercio e inventario moderna, segura y de costo cero en desarrollo, aplicando los mismos estándares que utilizan las grandes empresas tecnológicas.</a:t>
            </a:r>
          </a:p>
          <a:p>
            <a:r>
              <a:t>• Muchas gracias, profesor. Quedamos atentos a sus preguntas y observaciones.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950">
                <a:solidFill>
                  <a:srgbClr val="94A3B8"/>
                </a:solidFill>
                <a:latin typeface="Segoe UI"/>
              </a:defRPr>
            </a:pPr>
            <a:r>
              <a:t>Soluciones Cloud v1 • DSY1107 • Duoc UC • Arquitectura Cloud Native Segura</a:t>
            </a:r>
          </a:p>
        </p:txBody>
      </p:sp>
      <p:sp>
        <p:nvSpPr>
          <p:cNvPr id="5" name="TextBox 4"/>
          <p:cNvSpPr txBox="1"/>
          <p:nvPr/>
        </p:nvSpPr>
        <p:spPr>
          <a:xfrm>
            <a:off x="914400" y="914400"/>
            <a:ext cx="10362895" cy="365760"/>
          </a:xfrm>
          <a:prstGeom prst="rect">
            <a:avLst/>
          </a:prstGeom>
          <a:noFill/>
        </p:spPr>
        <p:txBody>
          <a:bodyPr wrap="none">
            <a:spAutoFit/>
          </a:bodyPr>
          <a:lstStyle/>
          <a:p>
            <a:pPr>
              <a:defRPr sz="1300" b="1">
                <a:solidFill>
                  <a:srgbClr val="00B4D8"/>
                </a:solidFill>
                <a:latin typeface="Segoe UI"/>
              </a:defRPr>
            </a:pPr>
            <a:r>
              <a:t>EVALUACIÓN PARCIAL N° 1 • DSY1107 • DUOC UC</a:t>
            </a:r>
          </a:p>
        </p:txBody>
      </p:sp>
      <p:sp>
        <p:nvSpPr>
          <p:cNvPr id="6" name="TextBox 5"/>
          <p:cNvSpPr txBox="1"/>
          <p:nvPr/>
        </p:nvSpPr>
        <p:spPr>
          <a:xfrm>
            <a:off x="914400" y="1371600"/>
            <a:ext cx="10362895" cy="1645920"/>
          </a:xfrm>
          <a:prstGeom prst="rect">
            <a:avLst/>
          </a:prstGeom>
          <a:noFill/>
        </p:spPr>
        <p:txBody>
          <a:bodyPr wrap="square">
            <a:spAutoFit/>
          </a:bodyPr>
          <a:lstStyle/>
          <a:p>
            <a:pPr>
              <a:defRPr sz="4400" b="1">
                <a:solidFill>
                  <a:srgbClr val="FFFFFF"/>
                </a:solidFill>
                <a:latin typeface="Segoe UI"/>
              </a:defRPr>
            </a:pPr>
            <a:r>
              <a:t>Soluciones Cloud v1</a:t>
            </a:r>
          </a:p>
          <a:p>
            <a:pPr>
              <a:spcBef>
                <a:spcPts val="800"/>
              </a:spcBef>
              <a:defRPr sz="1700">
                <a:solidFill>
                  <a:srgbClr val="E2E8F0"/>
                </a:solidFill>
                <a:latin typeface="Segoe UI"/>
              </a:defRPr>
            </a:pPr>
            <a:r>
              <a:t>Arquitectura Cloud Native Segura: Gestión de Productos con IDaaS (AWS Cognito), API Gateway, Spring Boot y React</a:t>
            </a:r>
          </a:p>
        </p:txBody>
      </p:sp>
      <p:sp>
        <p:nvSpPr>
          <p:cNvPr id="7" name="Rounded Rectangle 6"/>
          <p:cNvSpPr/>
          <p:nvPr/>
        </p:nvSpPr>
        <p:spPr>
          <a:xfrm>
            <a:off x="914400" y="3566160"/>
            <a:ext cx="1965960" cy="411480"/>
          </a:xfrm>
          <a:prstGeom prst="roundRect">
            <a:avLst/>
          </a:prstGeom>
          <a:solidFill>
            <a:srgbClr val="102444"/>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Segoe UI"/>
              </a:defRPr>
            </a:pPr>
            <a:r>
              <a:t>React + Vite (Vercel)</a:t>
            </a:r>
          </a:p>
        </p:txBody>
      </p:sp>
      <p:sp>
        <p:nvSpPr>
          <p:cNvPr id="8" name="Rounded Rectangle 7"/>
          <p:cNvSpPr/>
          <p:nvPr/>
        </p:nvSpPr>
        <p:spPr>
          <a:xfrm>
            <a:off x="3017520" y="3566160"/>
            <a:ext cx="1965960" cy="411480"/>
          </a:xfrm>
          <a:prstGeom prst="roundRect">
            <a:avLst/>
          </a:prstGeom>
          <a:solidFill>
            <a:srgbClr val="102444"/>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Segoe UI"/>
              </a:defRPr>
            </a:pPr>
            <a:r>
              <a:t>AWS Cognito (PKCE)</a:t>
            </a:r>
          </a:p>
        </p:txBody>
      </p:sp>
      <p:sp>
        <p:nvSpPr>
          <p:cNvPr id="9" name="Rounded Rectangle 8"/>
          <p:cNvSpPr/>
          <p:nvPr/>
        </p:nvSpPr>
        <p:spPr>
          <a:xfrm>
            <a:off x="5120640" y="3566160"/>
            <a:ext cx="1965960" cy="411480"/>
          </a:xfrm>
          <a:prstGeom prst="roundRect">
            <a:avLst/>
          </a:prstGeom>
          <a:solidFill>
            <a:srgbClr val="102444"/>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Segoe UI"/>
              </a:defRPr>
            </a:pPr>
            <a:r>
              <a:t>Amazon API Gateway</a:t>
            </a:r>
          </a:p>
        </p:txBody>
      </p:sp>
      <p:sp>
        <p:nvSpPr>
          <p:cNvPr id="10" name="Rounded Rectangle 9"/>
          <p:cNvSpPr/>
          <p:nvPr/>
        </p:nvSpPr>
        <p:spPr>
          <a:xfrm>
            <a:off x="7223759" y="3566160"/>
            <a:ext cx="1965960" cy="411480"/>
          </a:xfrm>
          <a:prstGeom prst="roundRect">
            <a:avLst/>
          </a:prstGeom>
          <a:solidFill>
            <a:srgbClr val="102444"/>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Segoe UI"/>
              </a:defRPr>
            </a:pPr>
            <a:r>
              <a:t>Spring Boot 3 (Render)</a:t>
            </a:r>
          </a:p>
        </p:txBody>
      </p:sp>
      <p:sp>
        <p:nvSpPr>
          <p:cNvPr id="11" name="Rounded Rectangle 10"/>
          <p:cNvSpPr/>
          <p:nvPr/>
        </p:nvSpPr>
        <p:spPr>
          <a:xfrm>
            <a:off x="9326880" y="3566160"/>
            <a:ext cx="1965960" cy="411480"/>
          </a:xfrm>
          <a:prstGeom prst="roundRect">
            <a:avLst/>
          </a:prstGeom>
          <a:solidFill>
            <a:srgbClr val="102444"/>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Segoe UI"/>
              </a:defRPr>
            </a:pPr>
            <a:r>
              <a:t>PostgreSQL (Supabase)</a:t>
            </a:r>
          </a:p>
        </p:txBody>
      </p:sp>
      <p:sp>
        <p:nvSpPr>
          <p:cNvPr id="12" name="Rounded Rectangle 11"/>
          <p:cNvSpPr/>
          <p:nvPr/>
        </p:nvSpPr>
        <p:spPr>
          <a:xfrm>
            <a:off x="914400" y="4480560"/>
            <a:ext cx="10362895" cy="146304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663440"/>
            <a:ext cx="9905695" cy="457200"/>
          </a:xfrm>
          <a:prstGeom prst="rect">
            <a:avLst/>
          </a:prstGeom>
          <a:noFill/>
        </p:spPr>
        <p:txBody>
          <a:bodyPr wrap="square">
            <a:spAutoFit/>
          </a:bodyPr>
          <a:lstStyle/>
          <a:p>
            <a:pPr>
              <a:defRPr sz="1600" b="1">
                <a:solidFill>
                  <a:srgbClr val="00B4D8"/>
                </a:solidFill>
                <a:latin typeface="Segoe UI"/>
              </a:defRPr>
            </a:pPr>
            <a:r>
              <a:t>Equipo de Ingeniería &amp; Enlaces de Producción</a:t>
            </a:r>
          </a:p>
        </p:txBody>
      </p:sp>
      <p:sp>
        <p:nvSpPr>
          <p:cNvPr id="14" name="TextBox 13"/>
          <p:cNvSpPr txBox="1"/>
          <p:nvPr/>
        </p:nvSpPr>
        <p:spPr>
          <a:xfrm>
            <a:off x="1143000" y="5029200"/>
            <a:ext cx="9875520" cy="822960"/>
          </a:xfrm>
          <a:prstGeom prst="rect">
            <a:avLst/>
          </a:prstGeom>
          <a:noFill/>
        </p:spPr>
        <p:txBody>
          <a:bodyPr wrap="square">
            <a:spAutoFit/>
          </a:bodyPr>
          <a:lstStyle/>
          <a:p>
            <a:pPr>
              <a:defRPr sz="1400" b="1">
                <a:solidFill>
                  <a:srgbClr val="FFFFFF"/>
                </a:solidFill>
                <a:latin typeface="Segoe UI"/>
              </a:defRPr>
            </a:pPr>
            <a:r>
              <a:t>Integrantes: Ignacio Salazar • Cristofer Cifuentes</a:t>
            </a:r>
          </a:p>
          <a:p>
            <a:pPr>
              <a:spcBef>
                <a:spcPts val="400"/>
              </a:spcBef>
              <a:defRPr sz="1200">
                <a:solidFill>
                  <a:srgbClr val="E2E8F0"/>
                </a:solidFill>
                <a:latin typeface="Segoe UI"/>
              </a:defRPr>
            </a:pPr>
            <a:r>
              <a:t>Producción: Frontend (Vercel) • Backend BFF (Render) • API Gateway (AWS us-east-1)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950">
                <a:solidFill>
                  <a:srgbClr val="94A3B8"/>
                </a:solidFill>
                <a:latin typeface="Segoe UI"/>
              </a:defRPr>
            </a:pPr>
            <a:r>
              <a:t>Soluciones Cloud v1 • DSY1107 • Duoc UC • Arquitectura Cloud Native Segura</a:t>
            </a:r>
          </a:p>
        </p:txBody>
      </p:sp>
      <p:sp>
        <p:nvSpPr>
          <p:cNvPr id="5" name="Rounded Rectangle 4"/>
          <p:cNvSpPr/>
          <p:nvPr/>
        </p:nvSpPr>
        <p:spPr>
          <a:xfrm>
            <a:off x="731520" y="384048"/>
            <a:ext cx="2560320" cy="292608"/>
          </a:xfrm>
          <a:prstGeom prst="roundRect">
            <a:avLst/>
          </a:prstGeom>
          <a:solidFill>
            <a:srgbClr val="102646"/>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B4D8"/>
                </a:solidFill>
                <a:latin typeface="Segoe UI"/>
              </a:defRPr>
            </a:pPr>
            <a:r>
              <a:t>01 • FUNDAMENTOS</a:t>
            </a:r>
          </a:p>
        </p:txBody>
      </p:sp>
      <p:sp>
        <p:nvSpPr>
          <p:cNvPr id="6" name="TextBox 5"/>
          <p:cNvSpPr txBox="1"/>
          <p:nvPr/>
        </p:nvSpPr>
        <p:spPr>
          <a:xfrm>
            <a:off x="731520" y="749808"/>
            <a:ext cx="9326880" cy="685800"/>
          </a:xfrm>
          <a:prstGeom prst="rect">
            <a:avLst/>
          </a:prstGeom>
          <a:noFill/>
        </p:spPr>
        <p:txBody>
          <a:bodyPr wrap="square">
            <a:spAutoFit/>
          </a:bodyPr>
          <a:lstStyle/>
          <a:p>
            <a:pPr>
              <a:defRPr sz="2600" b="1">
                <a:solidFill>
                  <a:srgbClr val="FFFFFF"/>
                </a:solidFill>
                <a:latin typeface="Segoe UI"/>
              </a:defRPr>
            </a:pPr>
            <a:r>
              <a:t>El Reto: Monolito Tradicional vs. Arquitectura Cloud Native</a:t>
            </a:r>
          </a:p>
        </p:txBody>
      </p:sp>
      <p:sp>
        <p:nvSpPr>
          <p:cNvPr id="7" name="TextBox 6"/>
          <p:cNvSpPr txBox="1"/>
          <p:nvPr/>
        </p:nvSpPr>
        <p:spPr>
          <a:xfrm>
            <a:off x="10332720" y="457200"/>
            <a:ext cx="1097280" cy="411480"/>
          </a:xfrm>
          <a:prstGeom prst="rect">
            <a:avLst/>
          </a:prstGeom>
          <a:noFill/>
        </p:spPr>
        <p:txBody>
          <a:bodyPr wrap="none">
            <a:spAutoFit/>
          </a:bodyPr>
          <a:lstStyle/>
          <a:p>
            <a:pPr algn="r">
              <a:defRPr sz="1300" b="1">
                <a:solidFill>
                  <a:srgbClr val="00B4D8"/>
                </a:solidFill>
                <a:latin typeface="Segoe UI"/>
              </a:defRPr>
            </a:pPr>
            <a:r>
              <a:t>02 / 10</a:t>
            </a:r>
          </a:p>
        </p:txBody>
      </p:sp>
      <p:sp>
        <p:nvSpPr>
          <p:cNvPr id="8" name="Rectangle 7"/>
          <p:cNvSpPr/>
          <p:nvPr/>
        </p:nvSpPr>
        <p:spPr>
          <a:xfrm>
            <a:off x="731520" y="1508760"/>
            <a:ext cx="10728655" cy="13716"/>
          </a:xfrm>
          <a:prstGeom prst="rect">
            <a:avLst/>
          </a:prstGeom>
          <a:solidFill>
            <a:srgbClr val="26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5212080" cy="4297680"/>
          </a:xfrm>
          <a:prstGeom prst="roundRect">
            <a:avLst/>
          </a:prstGeom>
          <a:solidFill>
            <a:srgbClr val="201826"/>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11680"/>
            <a:ext cx="4754880" cy="457200"/>
          </a:xfrm>
          <a:prstGeom prst="rect">
            <a:avLst/>
          </a:prstGeom>
          <a:noFill/>
        </p:spPr>
        <p:txBody>
          <a:bodyPr wrap="square">
            <a:spAutoFit/>
          </a:bodyPr>
          <a:lstStyle/>
          <a:p>
            <a:pPr>
              <a:defRPr sz="1600" b="1">
                <a:solidFill>
                  <a:srgbClr val="FFB703"/>
                </a:solidFill>
                <a:latin typeface="Segoe UI"/>
              </a:defRPr>
            </a:pPr>
            <a:r>
              <a:t>Riesgos del Enfoque Tradicional</a:t>
            </a:r>
          </a:p>
        </p:txBody>
      </p:sp>
      <p:sp>
        <p:nvSpPr>
          <p:cNvPr id="11" name="TextBox 10"/>
          <p:cNvSpPr txBox="1"/>
          <p:nvPr/>
        </p:nvSpPr>
        <p:spPr>
          <a:xfrm>
            <a:off x="1005840" y="2514600"/>
            <a:ext cx="4663440" cy="3291840"/>
          </a:xfrm>
          <a:prstGeom prst="rect">
            <a:avLst/>
          </a:prstGeom>
          <a:noFill/>
        </p:spPr>
        <p:txBody>
          <a:bodyPr wrap="square">
            <a:spAutoFit/>
          </a:bodyPr>
          <a:lstStyle/>
          <a:p>
            <a:pPr>
              <a:defRPr sz="1400" b="1">
                <a:solidFill>
                  <a:srgbClr val="FFB703"/>
                </a:solidFill>
                <a:latin typeface="Segoe UI"/>
              </a:defRPr>
            </a:pPr>
            <a:r>
              <a:t>✖  Gestión de Contraseñas Locales</a:t>
            </a:r>
          </a:p>
          <a:p>
            <a:pPr>
              <a:spcBef>
                <a:spcPts val="200"/>
              </a:spcBef>
              <a:defRPr sz="1200">
                <a:solidFill>
                  <a:srgbClr val="E2E8F0"/>
                </a:solidFill>
                <a:latin typeface="Segoe UI"/>
              </a:defRPr>
            </a:pPr>
            <a:r>
              <a:t>Guardar hashes en BD propia expone al negocio a filtraciones críticas y ataques de fuerza bruta.</a:t>
            </a:r>
          </a:p>
          <a:p>
            <a:pPr>
              <a:spcBef>
                <a:spcPts val="1200"/>
              </a:spcBef>
              <a:defRPr sz="1400" b="1">
                <a:solidFill>
                  <a:srgbClr val="FFB703"/>
                </a:solidFill>
                <a:latin typeface="Segoe UI"/>
              </a:defRPr>
            </a:pPr>
            <a:r>
              <a:t>✖  Acoplamiento y Sesiones en Memoria</a:t>
            </a:r>
          </a:p>
          <a:p>
            <a:pPr>
              <a:spcBef>
                <a:spcPts val="200"/>
              </a:spcBef>
              <a:defRPr sz="1200">
                <a:solidFill>
                  <a:srgbClr val="E2E8F0"/>
                </a:solidFill>
                <a:latin typeface="Segoe UI"/>
              </a:defRPr>
            </a:pPr>
            <a:r>
              <a:t>Sesiones HTTP en el servidor impiden escalar horizontalmente sin réplicas complejas.</a:t>
            </a:r>
          </a:p>
          <a:p>
            <a:pPr>
              <a:spcBef>
                <a:spcPts val="1200"/>
              </a:spcBef>
              <a:defRPr sz="1400" b="1">
                <a:solidFill>
                  <a:srgbClr val="FFB703"/>
                </a:solidFill>
                <a:latin typeface="Segoe UI"/>
              </a:defRPr>
            </a:pPr>
            <a:r>
              <a:t>✖  Punto Único de Falla (SPOF)</a:t>
            </a:r>
          </a:p>
          <a:p>
            <a:pPr>
              <a:spcBef>
                <a:spcPts val="200"/>
              </a:spcBef>
              <a:defRPr sz="1200">
                <a:solidFill>
                  <a:srgbClr val="E2E8F0"/>
                </a:solidFill>
                <a:latin typeface="Segoe UI"/>
              </a:defRPr>
            </a:pPr>
            <a:r>
              <a:t>Si la base de datos o el servidor fallan, todo el ecosistema colapsa sin aislamiento.</a:t>
            </a:r>
          </a:p>
        </p:txBody>
      </p:sp>
      <p:sp>
        <p:nvSpPr>
          <p:cNvPr id="12" name="Rounded Rectangle 11"/>
          <p:cNvSpPr/>
          <p:nvPr/>
        </p:nvSpPr>
        <p:spPr>
          <a:xfrm>
            <a:off x="6217920" y="1828800"/>
            <a:ext cx="5212080" cy="4297680"/>
          </a:xfrm>
          <a:prstGeom prst="roundRect">
            <a:avLst/>
          </a:prstGeom>
          <a:solidFill>
            <a:srgbClr val="142634"/>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011680"/>
            <a:ext cx="4754880" cy="457200"/>
          </a:xfrm>
          <a:prstGeom prst="rect">
            <a:avLst/>
          </a:prstGeom>
          <a:noFill/>
        </p:spPr>
        <p:txBody>
          <a:bodyPr wrap="square">
            <a:spAutoFit/>
          </a:bodyPr>
          <a:lstStyle/>
          <a:p>
            <a:pPr>
              <a:defRPr sz="1600" b="1">
                <a:solidFill>
                  <a:srgbClr val="06D6A0"/>
                </a:solidFill>
                <a:latin typeface="Segoe UI"/>
              </a:defRPr>
            </a:pPr>
            <a:r>
              <a:t>Nuestra Solución: Cloud Native &amp; Zero Trust</a:t>
            </a:r>
          </a:p>
        </p:txBody>
      </p:sp>
      <p:sp>
        <p:nvSpPr>
          <p:cNvPr id="14" name="TextBox 13"/>
          <p:cNvSpPr txBox="1"/>
          <p:nvPr/>
        </p:nvSpPr>
        <p:spPr>
          <a:xfrm>
            <a:off x="6492240" y="2514600"/>
            <a:ext cx="4663440" cy="3291840"/>
          </a:xfrm>
          <a:prstGeom prst="rect">
            <a:avLst/>
          </a:prstGeom>
          <a:noFill/>
        </p:spPr>
        <p:txBody>
          <a:bodyPr wrap="square">
            <a:spAutoFit/>
          </a:bodyPr>
          <a:lstStyle/>
          <a:p>
            <a:pPr>
              <a:defRPr sz="1400" b="1">
                <a:solidFill>
                  <a:srgbClr val="06D6A0"/>
                </a:solidFill>
                <a:latin typeface="Segoe UI"/>
              </a:defRPr>
            </a:pPr>
            <a:r>
              <a:t>✔  Identidad Delegada (IDaaS)</a:t>
            </a:r>
          </a:p>
          <a:p>
            <a:pPr>
              <a:spcBef>
                <a:spcPts val="200"/>
              </a:spcBef>
              <a:defRPr sz="1200">
                <a:solidFill>
                  <a:srgbClr val="E2E8F0"/>
                </a:solidFill>
                <a:latin typeface="Segoe UI"/>
              </a:defRPr>
            </a:pPr>
            <a:r>
              <a:t>AWS Cognito asume el 100% de la responsabilidad de usuarios, passwords, MFA y tokens.</a:t>
            </a:r>
          </a:p>
          <a:p>
            <a:pPr>
              <a:spcBef>
                <a:spcPts val="1200"/>
              </a:spcBef>
              <a:defRPr sz="1400" b="1">
                <a:solidFill>
                  <a:srgbClr val="06D6A0"/>
                </a:solidFill>
                <a:latin typeface="Segoe UI"/>
              </a:defRPr>
            </a:pPr>
            <a:r>
              <a:t>✔  Arquitectura 100% Stateless (JWT)</a:t>
            </a:r>
          </a:p>
          <a:p>
            <a:pPr>
              <a:spcBef>
                <a:spcPts val="200"/>
              </a:spcBef>
              <a:defRPr sz="1200">
                <a:solidFill>
                  <a:srgbClr val="E2E8F0"/>
                </a:solidFill>
                <a:latin typeface="Segoe UI"/>
              </a:defRPr>
            </a:pPr>
            <a:r>
              <a:t>El backend no almacena estados ni sesiones; cada petición valida asimétricamente su token.</a:t>
            </a:r>
          </a:p>
          <a:p>
            <a:pPr>
              <a:spcBef>
                <a:spcPts val="1200"/>
              </a:spcBef>
              <a:defRPr sz="1400" b="1">
                <a:solidFill>
                  <a:srgbClr val="06D6A0"/>
                </a:solidFill>
                <a:latin typeface="Segoe UI"/>
              </a:defRPr>
            </a:pPr>
            <a:r>
              <a:t>✔  Desacoplamiento Multi-Cloud Total</a:t>
            </a:r>
          </a:p>
          <a:p>
            <a:pPr>
              <a:spcBef>
                <a:spcPts val="200"/>
              </a:spcBef>
              <a:defRPr sz="1200">
                <a:solidFill>
                  <a:srgbClr val="E2E8F0"/>
                </a:solidFill>
                <a:latin typeface="Segoe UI"/>
              </a:defRPr>
            </a:pPr>
            <a:r>
              <a:t>Servicios independientes en Vercel, AWS, Render y Supabase con máxima resiliencia.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950">
                <a:solidFill>
                  <a:srgbClr val="94A3B8"/>
                </a:solidFill>
                <a:latin typeface="Segoe UI"/>
              </a:defRPr>
            </a:pPr>
            <a:r>
              <a:t>Soluciones Cloud v1 • DSY1107 • Duoc UC • Arquitectura Cloud Native Segura</a:t>
            </a:r>
          </a:p>
        </p:txBody>
      </p:sp>
      <p:sp>
        <p:nvSpPr>
          <p:cNvPr id="5" name="Rounded Rectangle 4"/>
          <p:cNvSpPr/>
          <p:nvPr/>
        </p:nvSpPr>
        <p:spPr>
          <a:xfrm>
            <a:off x="731520" y="384048"/>
            <a:ext cx="2560320" cy="292608"/>
          </a:xfrm>
          <a:prstGeom prst="roundRect">
            <a:avLst/>
          </a:prstGeom>
          <a:solidFill>
            <a:srgbClr val="102646"/>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B4D8"/>
                </a:solidFill>
                <a:latin typeface="Segoe UI"/>
              </a:defRPr>
            </a:pPr>
            <a:r>
              <a:t>02 • ARQUITECTURA</a:t>
            </a:r>
          </a:p>
        </p:txBody>
      </p:sp>
      <p:sp>
        <p:nvSpPr>
          <p:cNvPr id="6" name="TextBox 5"/>
          <p:cNvSpPr txBox="1"/>
          <p:nvPr/>
        </p:nvSpPr>
        <p:spPr>
          <a:xfrm>
            <a:off x="731520" y="749808"/>
            <a:ext cx="9326880" cy="685800"/>
          </a:xfrm>
          <a:prstGeom prst="rect">
            <a:avLst/>
          </a:prstGeom>
          <a:noFill/>
        </p:spPr>
        <p:txBody>
          <a:bodyPr wrap="square">
            <a:spAutoFit/>
          </a:bodyPr>
          <a:lstStyle/>
          <a:p>
            <a:pPr>
              <a:defRPr sz="2600" b="1">
                <a:solidFill>
                  <a:srgbClr val="FFFFFF"/>
                </a:solidFill>
                <a:latin typeface="Segoe UI"/>
              </a:defRPr>
            </a:pPr>
            <a:r>
              <a:t>Topología del Sistema: Ecosistema Multi-Cloud Desacoplado</a:t>
            </a:r>
          </a:p>
        </p:txBody>
      </p:sp>
      <p:sp>
        <p:nvSpPr>
          <p:cNvPr id="7" name="TextBox 6"/>
          <p:cNvSpPr txBox="1"/>
          <p:nvPr/>
        </p:nvSpPr>
        <p:spPr>
          <a:xfrm>
            <a:off x="10332720" y="457200"/>
            <a:ext cx="1097280" cy="411480"/>
          </a:xfrm>
          <a:prstGeom prst="rect">
            <a:avLst/>
          </a:prstGeom>
          <a:noFill/>
        </p:spPr>
        <p:txBody>
          <a:bodyPr wrap="none">
            <a:spAutoFit/>
          </a:bodyPr>
          <a:lstStyle/>
          <a:p>
            <a:pPr algn="r">
              <a:defRPr sz="1300" b="1">
                <a:solidFill>
                  <a:srgbClr val="00B4D8"/>
                </a:solidFill>
                <a:latin typeface="Segoe UI"/>
              </a:defRPr>
            </a:pPr>
            <a:r>
              <a:t>03 / 10</a:t>
            </a:r>
          </a:p>
        </p:txBody>
      </p:sp>
      <p:sp>
        <p:nvSpPr>
          <p:cNvPr id="8" name="Rectangle 7"/>
          <p:cNvSpPr/>
          <p:nvPr/>
        </p:nvSpPr>
        <p:spPr>
          <a:xfrm>
            <a:off x="731520" y="1508760"/>
            <a:ext cx="10728655" cy="13716"/>
          </a:xfrm>
          <a:prstGeom prst="rect">
            <a:avLst/>
          </a:prstGeom>
          <a:solidFill>
            <a:srgbClr val="26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783080"/>
            <a:ext cx="10728655" cy="987552"/>
          </a:xfrm>
          <a:prstGeom prst="roundRect">
            <a:avLst/>
          </a:prstGeom>
          <a:solidFill>
            <a:srgbClr val="141E34"/>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965960"/>
            <a:ext cx="10271455" cy="457200"/>
          </a:xfrm>
          <a:prstGeom prst="rect">
            <a:avLst/>
          </a:prstGeom>
          <a:noFill/>
        </p:spPr>
        <p:txBody>
          <a:bodyPr wrap="square">
            <a:spAutoFit/>
          </a:bodyPr>
          <a:lstStyle/>
          <a:p>
            <a:pPr>
              <a:defRPr sz="1600" b="1">
                <a:solidFill>
                  <a:srgbClr val="00B4D8"/>
                </a:solidFill>
                <a:latin typeface="Segoe UI"/>
              </a:defRPr>
            </a:pPr>
            <a:r>
              <a:t>1. Frontend SPA (Vercel)</a:t>
            </a:r>
          </a:p>
        </p:txBody>
      </p:sp>
      <p:sp>
        <p:nvSpPr>
          <p:cNvPr id="11" name="TextBox 10"/>
          <p:cNvSpPr txBox="1"/>
          <p:nvPr/>
        </p:nvSpPr>
        <p:spPr>
          <a:xfrm>
            <a:off x="960120" y="2194560"/>
            <a:ext cx="10241280" cy="502920"/>
          </a:xfrm>
          <a:prstGeom prst="rect">
            <a:avLst/>
          </a:prstGeom>
          <a:noFill/>
        </p:spPr>
        <p:txBody>
          <a:bodyPr wrap="square">
            <a:spAutoFit/>
          </a:bodyPr>
          <a:lstStyle/>
          <a:p>
            <a:pPr>
              <a:defRPr sz="1200">
                <a:solidFill>
                  <a:srgbClr val="E2E8F0"/>
                </a:solidFill>
                <a:latin typeface="Segoe UI"/>
              </a:defRPr>
            </a:pPr>
            <a:r>
              <a:t>Tecnología: React 19 + TypeScript + Vite  |  Rol: Aplicación estática de alto rendimiento. Acceso público al catálogo y orquestación de autenticación.</a:t>
            </a:r>
          </a:p>
        </p:txBody>
      </p:sp>
      <p:sp>
        <p:nvSpPr>
          <p:cNvPr id="12" name="Rounded Rectangle 11"/>
          <p:cNvSpPr/>
          <p:nvPr/>
        </p:nvSpPr>
        <p:spPr>
          <a:xfrm>
            <a:off x="731520" y="2898648"/>
            <a:ext cx="10728655" cy="987552"/>
          </a:xfrm>
          <a:prstGeom prst="roundRect">
            <a:avLst/>
          </a:prstGeom>
          <a:solidFill>
            <a:srgbClr val="141E34"/>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081528"/>
            <a:ext cx="10271455" cy="457200"/>
          </a:xfrm>
          <a:prstGeom prst="rect">
            <a:avLst/>
          </a:prstGeom>
          <a:noFill/>
        </p:spPr>
        <p:txBody>
          <a:bodyPr wrap="square">
            <a:spAutoFit/>
          </a:bodyPr>
          <a:lstStyle/>
          <a:p>
            <a:pPr>
              <a:defRPr sz="1600" b="1">
                <a:solidFill>
                  <a:srgbClr val="06D6A0"/>
                </a:solidFill>
                <a:latin typeface="Segoe UI"/>
              </a:defRPr>
            </a:pPr>
            <a:r>
              <a:t>2. Identidad IDaaS (AWS Cognito)</a:t>
            </a:r>
          </a:p>
        </p:txBody>
      </p:sp>
      <p:sp>
        <p:nvSpPr>
          <p:cNvPr id="14" name="TextBox 13"/>
          <p:cNvSpPr txBox="1"/>
          <p:nvPr/>
        </p:nvSpPr>
        <p:spPr>
          <a:xfrm>
            <a:off x="960120" y="3310128"/>
            <a:ext cx="10241280" cy="502920"/>
          </a:xfrm>
          <a:prstGeom prst="rect">
            <a:avLst/>
          </a:prstGeom>
          <a:noFill/>
        </p:spPr>
        <p:txBody>
          <a:bodyPr wrap="square">
            <a:spAutoFit/>
          </a:bodyPr>
          <a:lstStyle/>
          <a:p>
            <a:pPr>
              <a:defRPr sz="1200">
                <a:solidFill>
                  <a:srgbClr val="E2E8F0"/>
                </a:solidFill>
                <a:latin typeface="Segoe UI"/>
              </a:defRPr>
            </a:pPr>
            <a:r>
              <a:t>Tecnología: User Pool + Hosted UI + PKCE  |  Rol: Gestor autoritativo de identidad. Emite tokens criptográficos JWT (IdToken, AccessToken).</a:t>
            </a:r>
          </a:p>
        </p:txBody>
      </p:sp>
      <p:sp>
        <p:nvSpPr>
          <p:cNvPr id="15" name="Rounded Rectangle 14"/>
          <p:cNvSpPr/>
          <p:nvPr/>
        </p:nvSpPr>
        <p:spPr>
          <a:xfrm>
            <a:off x="731520" y="4014215"/>
            <a:ext cx="10728655" cy="987552"/>
          </a:xfrm>
          <a:prstGeom prst="roundRect">
            <a:avLst/>
          </a:prstGeom>
          <a:solidFill>
            <a:srgbClr val="141E34"/>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197096"/>
            <a:ext cx="10271455" cy="457200"/>
          </a:xfrm>
          <a:prstGeom prst="rect">
            <a:avLst/>
          </a:prstGeom>
          <a:noFill/>
        </p:spPr>
        <p:txBody>
          <a:bodyPr wrap="square">
            <a:spAutoFit/>
          </a:bodyPr>
          <a:lstStyle/>
          <a:p>
            <a:pPr>
              <a:defRPr sz="1600" b="1">
                <a:solidFill>
                  <a:srgbClr val="FFFFFF"/>
                </a:solidFill>
                <a:latin typeface="Segoe UI"/>
              </a:defRPr>
            </a:pPr>
            <a:r>
              <a:t>3. Perímetro &amp; BFF (AWS API Gateway + Render)</a:t>
            </a:r>
          </a:p>
        </p:txBody>
      </p:sp>
      <p:sp>
        <p:nvSpPr>
          <p:cNvPr id="17" name="TextBox 16"/>
          <p:cNvSpPr txBox="1"/>
          <p:nvPr/>
        </p:nvSpPr>
        <p:spPr>
          <a:xfrm>
            <a:off x="960120" y="4425696"/>
            <a:ext cx="10241280" cy="502920"/>
          </a:xfrm>
          <a:prstGeom prst="rect">
            <a:avLst/>
          </a:prstGeom>
          <a:noFill/>
        </p:spPr>
        <p:txBody>
          <a:bodyPr wrap="square">
            <a:spAutoFit/>
          </a:bodyPr>
          <a:lstStyle/>
          <a:p>
            <a:pPr>
              <a:defRPr sz="1200">
                <a:solidFill>
                  <a:srgbClr val="E2E8F0"/>
                </a:solidFill>
                <a:latin typeface="Segoe UI"/>
              </a:defRPr>
            </a:pPr>
            <a:r>
              <a:t>Tecnología: API Gateway + Spring Boot 3  |  Rol: Puerta de enlace perimetral con filtrado de CORS y Resource Server en Java 17.</a:t>
            </a:r>
          </a:p>
        </p:txBody>
      </p:sp>
      <p:sp>
        <p:nvSpPr>
          <p:cNvPr id="18" name="Rounded Rectangle 17"/>
          <p:cNvSpPr/>
          <p:nvPr/>
        </p:nvSpPr>
        <p:spPr>
          <a:xfrm>
            <a:off x="731520" y="5129784"/>
            <a:ext cx="10728655" cy="987552"/>
          </a:xfrm>
          <a:prstGeom prst="roundRect">
            <a:avLst/>
          </a:prstGeom>
          <a:solidFill>
            <a:srgbClr val="141E34"/>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5312664"/>
            <a:ext cx="10271455" cy="457200"/>
          </a:xfrm>
          <a:prstGeom prst="rect">
            <a:avLst/>
          </a:prstGeom>
          <a:noFill/>
        </p:spPr>
        <p:txBody>
          <a:bodyPr wrap="square">
            <a:spAutoFit/>
          </a:bodyPr>
          <a:lstStyle/>
          <a:p>
            <a:pPr>
              <a:defRPr sz="1600" b="1">
                <a:solidFill>
                  <a:srgbClr val="FFB703"/>
                </a:solidFill>
                <a:latin typeface="Segoe UI"/>
              </a:defRPr>
            </a:pPr>
            <a:r>
              <a:t>4. Persistencia Cloud (Supabase)</a:t>
            </a:r>
          </a:p>
        </p:txBody>
      </p:sp>
      <p:sp>
        <p:nvSpPr>
          <p:cNvPr id="20" name="TextBox 19"/>
          <p:cNvSpPr txBox="1"/>
          <p:nvPr/>
        </p:nvSpPr>
        <p:spPr>
          <a:xfrm>
            <a:off x="960120" y="5541264"/>
            <a:ext cx="10241280" cy="502920"/>
          </a:xfrm>
          <a:prstGeom prst="rect">
            <a:avLst/>
          </a:prstGeom>
          <a:noFill/>
        </p:spPr>
        <p:txBody>
          <a:bodyPr wrap="square">
            <a:spAutoFit/>
          </a:bodyPr>
          <a:lstStyle/>
          <a:p>
            <a:pPr>
              <a:defRPr sz="1200">
                <a:solidFill>
                  <a:srgbClr val="E2E8F0"/>
                </a:solidFill>
                <a:latin typeface="Segoe UI"/>
              </a:defRPr>
            </a:pPr>
            <a:r>
              <a:t>Tecnología: PostgreSQL 15+ &amp; Session Pooler  |  Rol: Base de datos relacional administrada conectada mediante pool transaccional seguro (puerto 5432).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950">
                <a:solidFill>
                  <a:srgbClr val="94A3B8"/>
                </a:solidFill>
                <a:latin typeface="Segoe UI"/>
              </a:defRPr>
            </a:pPr>
            <a:r>
              <a:t>Soluciones Cloud v1 • DSY1107 • Duoc UC • Arquitectura Cloud Native Segura</a:t>
            </a:r>
          </a:p>
        </p:txBody>
      </p:sp>
      <p:sp>
        <p:nvSpPr>
          <p:cNvPr id="5" name="Rounded Rectangle 4"/>
          <p:cNvSpPr/>
          <p:nvPr/>
        </p:nvSpPr>
        <p:spPr>
          <a:xfrm>
            <a:off x="731520" y="384048"/>
            <a:ext cx="2560320" cy="292608"/>
          </a:xfrm>
          <a:prstGeom prst="roundRect">
            <a:avLst/>
          </a:prstGeom>
          <a:solidFill>
            <a:srgbClr val="102646"/>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B4D8"/>
                </a:solidFill>
                <a:latin typeface="Segoe UI"/>
              </a:defRPr>
            </a:pPr>
            <a:r>
              <a:t>03 • SEGURIDAD IDAAS</a:t>
            </a:r>
          </a:p>
        </p:txBody>
      </p:sp>
      <p:sp>
        <p:nvSpPr>
          <p:cNvPr id="6" name="TextBox 5"/>
          <p:cNvSpPr txBox="1"/>
          <p:nvPr/>
        </p:nvSpPr>
        <p:spPr>
          <a:xfrm>
            <a:off x="731520" y="749808"/>
            <a:ext cx="9326880" cy="685800"/>
          </a:xfrm>
          <a:prstGeom prst="rect">
            <a:avLst/>
          </a:prstGeom>
          <a:noFill/>
        </p:spPr>
        <p:txBody>
          <a:bodyPr wrap="square">
            <a:spAutoFit/>
          </a:bodyPr>
          <a:lstStyle/>
          <a:p>
            <a:pPr>
              <a:defRPr sz="2600" b="1">
                <a:solidFill>
                  <a:srgbClr val="FFFFFF"/>
                </a:solidFill>
                <a:latin typeface="Segoe UI"/>
              </a:defRPr>
            </a:pPr>
            <a:r>
              <a:t>Gestión de Identidad: AWS Cognito y Protocolo PKCE</a:t>
            </a:r>
          </a:p>
        </p:txBody>
      </p:sp>
      <p:sp>
        <p:nvSpPr>
          <p:cNvPr id="7" name="TextBox 6"/>
          <p:cNvSpPr txBox="1"/>
          <p:nvPr/>
        </p:nvSpPr>
        <p:spPr>
          <a:xfrm>
            <a:off x="10332720" y="457200"/>
            <a:ext cx="1097280" cy="411480"/>
          </a:xfrm>
          <a:prstGeom prst="rect">
            <a:avLst/>
          </a:prstGeom>
          <a:noFill/>
        </p:spPr>
        <p:txBody>
          <a:bodyPr wrap="none">
            <a:spAutoFit/>
          </a:bodyPr>
          <a:lstStyle/>
          <a:p>
            <a:pPr algn="r">
              <a:defRPr sz="1300" b="1">
                <a:solidFill>
                  <a:srgbClr val="00B4D8"/>
                </a:solidFill>
                <a:latin typeface="Segoe UI"/>
              </a:defRPr>
            </a:pPr>
            <a:r>
              <a:t>04 / 10</a:t>
            </a:r>
          </a:p>
        </p:txBody>
      </p:sp>
      <p:sp>
        <p:nvSpPr>
          <p:cNvPr id="8" name="Rectangle 7"/>
          <p:cNvSpPr/>
          <p:nvPr/>
        </p:nvSpPr>
        <p:spPr>
          <a:xfrm>
            <a:off x="731520" y="1508760"/>
            <a:ext cx="10728655" cy="13716"/>
          </a:xfrm>
          <a:prstGeom prst="rect">
            <a:avLst/>
          </a:prstGeom>
          <a:solidFill>
            <a:srgbClr val="26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3383280" cy="429768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11680"/>
            <a:ext cx="2926080" cy="457200"/>
          </a:xfrm>
          <a:prstGeom prst="rect">
            <a:avLst/>
          </a:prstGeom>
          <a:noFill/>
        </p:spPr>
        <p:txBody>
          <a:bodyPr wrap="square">
            <a:spAutoFit/>
          </a:bodyPr>
          <a:lstStyle/>
          <a:p>
            <a:pPr>
              <a:defRPr sz="1600" b="1">
                <a:solidFill>
                  <a:srgbClr val="00B4D8"/>
                </a:solidFill>
                <a:latin typeface="Segoe UI"/>
              </a:defRPr>
            </a:pPr>
            <a:r>
              <a:t>Cero Contraseñas en el Sistema</a:t>
            </a:r>
          </a:p>
        </p:txBody>
      </p:sp>
      <p:sp>
        <p:nvSpPr>
          <p:cNvPr id="11" name="TextBox 10"/>
          <p:cNvSpPr txBox="1"/>
          <p:nvPr/>
        </p:nvSpPr>
        <p:spPr>
          <a:xfrm>
            <a:off x="914400" y="2514600"/>
            <a:ext cx="3017520" cy="3383280"/>
          </a:xfrm>
          <a:prstGeom prst="rect">
            <a:avLst/>
          </a:prstGeom>
          <a:noFill/>
        </p:spPr>
        <p:txBody>
          <a:bodyPr wrap="square">
            <a:spAutoFit/>
          </a:bodyPr>
          <a:lstStyle/>
          <a:p>
            <a:pPr>
              <a:defRPr sz="1300">
                <a:solidFill>
                  <a:srgbClr val="E2E8F0"/>
                </a:solidFill>
                <a:latin typeface="Segoe UI"/>
              </a:defRPr>
            </a:pPr>
            <a:r>
              <a:t>•  Nuestra aplicación ni el servidor ven jamás las credenciales del usuario.</a:t>
            </a:r>
          </a:p>
          <a:p>
            <a:pPr>
              <a:spcBef>
                <a:spcPts val="1400"/>
              </a:spcBef>
              <a:defRPr sz="1300">
                <a:solidFill>
                  <a:srgbClr val="E2E8F0"/>
                </a:solidFill>
                <a:latin typeface="Segoe UI"/>
              </a:defRPr>
            </a:pPr>
            <a:r>
              <a:t>•  Eliminamos el riesgo de filtraciones y cumplimos normativas internacionales.</a:t>
            </a:r>
          </a:p>
          <a:p>
            <a:pPr>
              <a:spcBef>
                <a:spcPts val="1400"/>
              </a:spcBef>
              <a:defRPr sz="1300">
                <a:solidFill>
                  <a:srgbClr val="E2E8F0"/>
                </a:solidFill>
                <a:latin typeface="Segoe UI"/>
              </a:defRPr>
            </a:pPr>
            <a:r>
              <a:t>•  Validación automática por correo con códigos seguros de 6 dígitos.</a:t>
            </a:r>
          </a:p>
        </p:txBody>
      </p:sp>
      <p:sp>
        <p:nvSpPr>
          <p:cNvPr id="12" name="Rounded Rectangle 11"/>
          <p:cNvSpPr/>
          <p:nvPr/>
        </p:nvSpPr>
        <p:spPr>
          <a:xfrm>
            <a:off x="4389120" y="1828800"/>
            <a:ext cx="3383280" cy="429768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011680"/>
            <a:ext cx="2926080" cy="457200"/>
          </a:xfrm>
          <a:prstGeom prst="rect">
            <a:avLst/>
          </a:prstGeom>
          <a:noFill/>
        </p:spPr>
        <p:txBody>
          <a:bodyPr wrap="square">
            <a:spAutoFit/>
          </a:bodyPr>
          <a:lstStyle/>
          <a:p>
            <a:pPr>
              <a:defRPr sz="1600" b="1">
                <a:solidFill>
                  <a:srgbClr val="06D6A0"/>
                </a:solidFill>
                <a:latin typeface="Segoe UI"/>
              </a:defRPr>
            </a:pPr>
            <a:r>
              <a:t>Hosted UI Oficial de AWS</a:t>
            </a:r>
          </a:p>
        </p:txBody>
      </p:sp>
      <p:sp>
        <p:nvSpPr>
          <p:cNvPr id="14" name="TextBox 13"/>
          <p:cNvSpPr txBox="1"/>
          <p:nvPr/>
        </p:nvSpPr>
        <p:spPr>
          <a:xfrm>
            <a:off x="4572000" y="2514600"/>
            <a:ext cx="3017520" cy="3383280"/>
          </a:xfrm>
          <a:prstGeom prst="rect">
            <a:avLst/>
          </a:prstGeom>
          <a:noFill/>
        </p:spPr>
        <p:txBody>
          <a:bodyPr wrap="square">
            <a:spAutoFit/>
          </a:bodyPr>
          <a:lstStyle/>
          <a:p>
            <a:pPr>
              <a:defRPr sz="1300">
                <a:solidFill>
                  <a:srgbClr val="E2E8F0"/>
                </a:solidFill>
                <a:latin typeface="Segoe UI"/>
              </a:defRPr>
            </a:pPr>
            <a:r>
              <a:t>•  Interfaz de inicio de sesión alojada en la infraestructura global de Amazon.</a:t>
            </a:r>
          </a:p>
          <a:p>
            <a:pPr>
              <a:spcBef>
                <a:spcPts val="1400"/>
              </a:spcBef>
              <a:defRPr sz="1300">
                <a:solidFill>
                  <a:srgbClr val="E2E8F0"/>
                </a:solidFill>
                <a:latin typeface="Segoe UI"/>
              </a:defRPr>
            </a:pPr>
            <a:r>
              <a:t>•  Protección nativa contra ataques de fuerza bruta, bots y credential stuffing.</a:t>
            </a:r>
          </a:p>
          <a:p>
            <a:pPr>
              <a:spcBef>
                <a:spcPts val="1400"/>
              </a:spcBef>
              <a:defRPr sz="1300">
                <a:solidFill>
                  <a:srgbClr val="E2E8F0"/>
                </a:solidFill>
                <a:latin typeface="Segoe UI"/>
              </a:defRPr>
            </a:pPr>
            <a:r>
              <a:t>•  Aislamiento absoluto entre la interfaz del usuario y los servidores de backend.</a:t>
            </a:r>
          </a:p>
        </p:txBody>
      </p:sp>
      <p:sp>
        <p:nvSpPr>
          <p:cNvPr id="15" name="Rounded Rectangle 14"/>
          <p:cNvSpPr/>
          <p:nvPr/>
        </p:nvSpPr>
        <p:spPr>
          <a:xfrm>
            <a:off x="8046720" y="1828800"/>
            <a:ext cx="3383280" cy="429768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011680"/>
            <a:ext cx="2926080" cy="457200"/>
          </a:xfrm>
          <a:prstGeom prst="rect">
            <a:avLst/>
          </a:prstGeom>
          <a:noFill/>
        </p:spPr>
        <p:txBody>
          <a:bodyPr wrap="square">
            <a:spAutoFit/>
          </a:bodyPr>
          <a:lstStyle/>
          <a:p>
            <a:pPr>
              <a:defRPr sz="1600" b="1">
                <a:solidFill>
                  <a:srgbClr val="FFB703"/>
                </a:solidFill>
                <a:latin typeface="Segoe UI"/>
              </a:defRPr>
            </a:pPr>
            <a:r>
              <a:t>Flujo Criptográfico PKCE</a:t>
            </a:r>
          </a:p>
        </p:txBody>
      </p:sp>
      <p:sp>
        <p:nvSpPr>
          <p:cNvPr id="17" name="TextBox 16"/>
          <p:cNvSpPr txBox="1"/>
          <p:nvPr/>
        </p:nvSpPr>
        <p:spPr>
          <a:xfrm>
            <a:off x="8229600" y="2514600"/>
            <a:ext cx="3017520" cy="3383280"/>
          </a:xfrm>
          <a:prstGeom prst="rect">
            <a:avLst/>
          </a:prstGeom>
          <a:noFill/>
        </p:spPr>
        <p:txBody>
          <a:bodyPr wrap="square">
            <a:spAutoFit/>
          </a:bodyPr>
          <a:lstStyle/>
          <a:p>
            <a:pPr>
              <a:defRPr sz="1300">
                <a:solidFill>
                  <a:srgbClr val="E2E8F0"/>
                </a:solidFill>
                <a:latin typeface="Segoe UI"/>
              </a:defRPr>
            </a:pPr>
            <a:r>
              <a:t>•  Proof Key for Code Exchange (RFC 7636) diseñado para SPAs públicas.</a:t>
            </a:r>
          </a:p>
          <a:p>
            <a:pPr>
              <a:spcBef>
                <a:spcPts val="1400"/>
              </a:spcBef>
              <a:defRPr sz="1300">
                <a:solidFill>
                  <a:srgbClr val="E2E8F0"/>
                </a:solidFill>
                <a:latin typeface="Segoe UI"/>
              </a:defRPr>
            </a:pPr>
            <a:r>
              <a:t>•  Genera code_verifier y code_challenge al vuelo para evitar intercepciones.</a:t>
            </a:r>
          </a:p>
          <a:p>
            <a:pPr>
              <a:spcBef>
                <a:spcPts val="1400"/>
              </a:spcBef>
              <a:defRPr sz="1300">
                <a:solidFill>
                  <a:srgbClr val="E2E8F0"/>
                </a:solidFill>
                <a:latin typeface="Segoe UI"/>
              </a:defRPr>
            </a:pPr>
            <a:r>
              <a:t>•  Garantiza que sólo quien solicitó el login pueda canjear los tokens JWT.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950">
                <a:solidFill>
                  <a:srgbClr val="94A3B8"/>
                </a:solidFill>
                <a:latin typeface="Segoe UI"/>
              </a:defRPr>
            </a:pPr>
            <a:r>
              <a:t>Soluciones Cloud v1 • DSY1107 • Duoc UC • Arquitectura Cloud Native Segura</a:t>
            </a:r>
          </a:p>
        </p:txBody>
      </p:sp>
      <p:sp>
        <p:nvSpPr>
          <p:cNvPr id="5" name="Rounded Rectangle 4"/>
          <p:cNvSpPr/>
          <p:nvPr/>
        </p:nvSpPr>
        <p:spPr>
          <a:xfrm>
            <a:off x="731520" y="384048"/>
            <a:ext cx="2560320" cy="292608"/>
          </a:xfrm>
          <a:prstGeom prst="roundRect">
            <a:avLst/>
          </a:prstGeom>
          <a:solidFill>
            <a:srgbClr val="102646"/>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B4D8"/>
                </a:solidFill>
                <a:latin typeface="Segoe UI"/>
              </a:defRPr>
            </a:pPr>
            <a:r>
              <a:t>04 • PROTECCIÓN DE RED</a:t>
            </a:r>
          </a:p>
        </p:txBody>
      </p:sp>
      <p:sp>
        <p:nvSpPr>
          <p:cNvPr id="6" name="TextBox 5"/>
          <p:cNvSpPr txBox="1"/>
          <p:nvPr/>
        </p:nvSpPr>
        <p:spPr>
          <a:xfrm>
            <a:off x="731520" y="749808"/>
            <a:ext cx="9326880" cy="685800"/>
          </a:xfrm>
          <a:prstGeom prst="rect">
            <a:avLst/>
          </a:prstGeom>
          <a:noFill/>
        </p:spPr>
        <p:txBody>
          <a:bodyPr wrap="square">
            <a:spAutoFit/>
          </a:bodyPr>
          <a:lstStyle/>
          <a:p>
            <a:pPr>
              <a:defRPr sz="2600" b="1">
                <a:solidFill>
                  <a:srgbClr val="FFFFFF"/>
                </a:solidFill>
                <a:latin typeface="Segoe UI"/>
              </a:defRPr>
            </a:pPr>
            <a:r>
              <a:t>Defensa en Profundidad: Doble Filtro de Seguridad</a:t>
            </a:r>
          </a:p>
        </p:txBody>
      </p:sp>
      <p:sp>
        <p:nvSpPr>
          <p:cNvPr id="7" name="TextBox 6"/>
          <p:cNvSpPr txBox="1"/>
          <p:nvPr/>
        </p:nvSpPr>
        <p:spPr>
          <a:xfrm>
            <a:off x="10332720" y="457200"/>
            <a:ext cx="1097280" cy="411480"/>
          </a:xfrm>
          <a:prstGeom prst="rect">
            <a:avLst/>
          </a:prstGeom>
          <a:noFill/>
        </p:spPr>
        <p:txBody>
          <a:bodyPr wrap="none">
            <a:spAutoFit/>
          </a:bodyPr>
          <a:lstStyle/>
          <a:p>
            <a:pPr algn="r">
              <a:defRPr sz="1300" b="1">
                <a:solidFill>
                  <a:srgbClr val="00B4D8"/>
                </a:solidFill>
                <a:latin typeface="Segoe UI"/>
              </a:defRPr>
            </a:pPr>
            <a:r>
              <a:t>05 / 10</a:t>
            </a:r>
          </a:p>
        </p:txBody>
      </p:sp>
      <p:sp>
        <p:nvSpPr>
          <p:cNvPr id="8" name="Rectangle 7"/>
          <p:cNvSpPr/>
          <p:nvPr/>
        </p:nvSpPr>
        <p:spPr>
          <a:xfrm>
            <a:off x="731520" y="1508760"/>
            <a:ext cx="10728655" cy="13716"/>
          </a:xfrm>
          <a:prstGeom prst="rect">
            <a:avLst/>
          </a:prstGeom>
          <a:solidFill>
            <a:srgbClr val="26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5212080" cy="429768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11680"/>
            <a:ext cx="4754880" cy="457200"/>
          </a:xfrm>
          <a:prstGeom prst="rect">
            <a:avLst/>
          </a:prstGeom>
          <a:noFill/>
        </p:spPr>
        <p:txBody>
          <a:bodyPr wrap="square">
            <a:spAutoFit/>
          </a:bodyPr>
          <a:lstStyle/>
          <a:p>
            <a:pPr>
              <a:defRPr sz="1600" b="1">
                <a:solidFill>
                  <a:srgbClr val="00B4D8"/>
                </a:solidFill>
                <a:latin typeface="Segoe UI"/>
              </a:defRPr>
            </a:pPr>
            <a:r>
              <a:t>1° Filtro: Perímetro (Amazon API Gateway)</a:t>
            </a:r>
          </a:p>
        </p:txBody>
      </p:sp>
      <p:sp>
        <p:nvSpPr>
          <p:cNvPr id="11" name="TextBox 10"/>
          <p:cNvSpPr txBox="1"/>
          <p:nvPr/>
        </p:nvSpPr>
        <p:spPr>
          <a:xfrm>
            <a:off x="1005840" y="2560320"/>
            <a:ext cx="4663440" cy="3291840"/>
          </a:xfrm>
          <a:prstGeom prst="rect">
            <a:avLst/>
          </a:prstGeom>
          <a:noFill/>
        </p:spPr>
        <p:txBody>
          <a:bodyPr wrap="square">
            <a:spAutoFit/>
          </a:bodyPr>
          <a:lstStyle/>
          <a:p>
            <a:pPr>
              <a:defRPr sz="1400" b="1">
                <a:solidFill>
                  <a:srgbClr val="00B4D8"/>
                </a:solidFill>
                <a:latin typeface="Segoe UI"/>
              </a:defRPr>
            </a:pPr>
            <a:r>
              <a:t>🛡️  Cognito Authorizer en el Borde</a:t>
            </a:r>
          </a:p>
          <a:p>
            <a:pPr>
              <a:spcBef>
                <a:spcPts val="200"/>
              </a:spcBef>
              <a:defRPr sz="1200">
                <a:solidFill>
                  <a:srgbClr val="E2E8F0"/>
                </a:solidFill>
                <a:latin typeface="Segoe UI"/>
              </a:defRPr>
            </a:pPr>
            <a:r>
              <a:t>El Gateway intercepta la cabecera Authorization antes de reenviar el tráfico al servidor.</a:t>
            </a:r>
          </a:p>
          <a:p>
            <a:pPr>
              <a:spcBef>
                <a:spcPts val="1200"/>
              </a:spcBef>
              <a:defRPr sz="1400" b="1">
                <a:solidFill>
                  <a:srgbClr val="00B4D8"/>
                </a:solidFill>
                <a:latin typeface="Segoe UI"/>
              </a:defRPr>
            </a:pPr>
            <a:r>
              <a:t>🛡️  Bloqueo Inmediato (HTTP 401)</a:t>
            </a:r>
          </a:p>
          <a:p>
            <a:pPr>
              <a:spcBef>
                <a:spcPts val="200"/>
              </a:spcBef>
              <a:defRPr sz="1200">
                <a:solidFill>
                  <a:srgbClr val="E2E8F0"/>
                </a:solidFill>
                <a:latin typeface="Segoe UI"/>
              </a:defRPr>
            </a:pPr>
            <a:r>
              <a:t>Peticiones con tokens vencidos o fraudulentos son rechazadas en el perímetro.</a:t>
            </a:r>
          </a:p>
          <a:p>
            <a:pPr>
              <a:spcBef>
                <a:spcPts val="1200"/>
              </a:spcBef>
              <a:defRPr sz="1400" b="1">
                <a:solidFill>
                  <a:srgbClr val="00B4D8"/>
                </a:solidFill>
                <a:latin typeface="Segoe UI"/>
              </a:defRPr>
            </a:pPr>
            <a:r>
              <a:t>🛡️  Ahorro de Cómputo y Resiliencia</a:t>
            </a:r>
          </a:p>
          <a:p>
            <a:pPr>
              <a:spcBef>
                <a:spcPts val="200"/>
              </a:spcBef>
              <a:defRPr sz="1200">
                <a:solidFill>
                  <a:srgbClr val="E2E8F0"/>
                </a:solidFill>
                <a:latin typeface="Segoe UI"/>
              </a:defRPr>
            </a:pPr>
            <a:r>
              <a:t>El backend en Render nunca procesa tráfico malicioso, ahorrando memoria y CPU.</a:t>
            </a:r>
          </a:p>
        </p:txBody>
      </p:sp>
      <p:sp>
        <p:nvSpPr>
          <p:cNvPr id="12" name="Rounded Rectangle 11"/>
          <p:cNvSpPr/>
          <p:nvPr/>
        </p:nvSpPr>
        <p:spPr>
          <a:xfrm>
            <a:off x="6217920" y="1828800"/>
            <a:ext cx="5212080" cy="429768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011680"/>
            <a:ext cx="4754880" cy="457200"/>
          </a:xfrm>
          <a:prstGeom prst="rect">
            <a:avLst/>
          </a:prstGeom>
          <a:noFill/>
        </p:spPr>
        <p:txBody>
          <a:bodyPr wrap="square">
            <a:spAutoFit/>
          </a:bodyPr>
          <a:lstStyle/>
          <a:p>
            <a:pPr>
              <a:defRPr sz="1600" b="1">
                <a:solidFill>
                  <a:srgbClr val="06D6A0"/>
                </a:solidFill>
                <a:latin typeface="Segoe UI"/>
              </a:defRPr>
            </a:pPr>
            <a:r>
              <a:t>2° Filtro: Backend (Spring Security 6)</a:t>
            </a:r>
          </a:p>
        </p:txBody>
      </p:sp>
      <p:sp>
        <p:nvSpPr>
          <p:cNvPr id="14" name="TextBox 13"/>
          <p:cNvSpPr txBox="1"/>
          <p:nvPr/>
        </p:nvSpPr>
        <p:spPr>
          <a:xfrm>
            <a:off x="6492240" y="2560320"/>
            <a:ext cx="4663440" cy="3291840"/>
          </a:xfrm>
          <a:prstGeom prst="rect">
            <a:avLst/>
          </a:prstGeom>
          <a:noFill/>
        </p:spPr>
        <p:txBody>
          <a:bodyPr wrap="square">
            <a:spAutoFit/>
          </a:bodyPr>
          <a:lstStyle/>
          <a:p>
            <a:pPr>
              <a:defRPr sz="1400" b="1">
                <a:solidFill>
                  <a:srgbClr val="06D6A0"/>
                </a:solidFill>
                <a:latin typeface="Segoe UI"/>
              </a:defRPr>
            </a:pPr>
            <a:r>
              <a:t>🔒  Resource Server Criptográfico</a:t>
            </a:r>
          </a:p>
          <a:p>
            <a:pPr>
              <a:spcBef>
                <a:spcPts val="200"/>
              </a:spcBef>
              <a:defRPr sz="1200">
                <a:solidFill>
                  <a:srgbClr val="E2E8F0"/>
                </a:solidFill>
                <a:latin typeface="Segoe UI"/>
              </a:defRPr>
            </a:pPr>
            <a:r>
              <a:t>Spring Boot valida asimétricamente (RS256) la firma digital del token.</a:t>
            </a:r>
          </a:p>
          <a:p>
            <a:pPr>
              <a:spcBef>
                <a:spcPts val="1200"/>
              </a:spcBef>
              <a:defRPr sz="1400" b="1">
                <a:solidFill>
                  <a:srgbClr val="06D6A0"/>
                </a:solidFill>
                <a:latin typeface="Segoe UI"/>
              </a:defRPr>
            </a:pPr>
            <a:r>
              <a:t>🔒  Verificación con JWKS de AWS</a:t>
            </a:r>
          </a:p>
          <a:p>
            <a:pPr>
              <a:spcBef>
                <a:spcPts val="200"/>
              </a:spcBef>
              <a:defRPr sz="1200">
                <a:solidFill>
                  <a:srgbClr val="E2E8F0"/>
                </a:solidFill>
                <a:latin typeface="Segoe UI"/>
              </a:defRPr>
            </a:pPr>
            <a:r>
              <a:t>Descarga claves públicas directas desde Amazon; sin contraseñas compartidas.</a:t>
            </a:r>
          </a:p>
          <a:p>
            <a:pPr>
              <a:spcBef>
                <a:spcPts val="1200"/>
              </a:spcBef>
              <a:defRPr sz="1400" b="1">
                <a:solidFill>
                  <a:srgbClr val="06D6A0"/>
                </a:solidFill>
                <a:latin typeface="Segoe UI"/>
              </a:defRPr>
            </a:pPr>
            <a:r>
              <a:t>🔒  Extracción de Identidad del Usuario</a:t>
            </a:r>
          </a:p>
          <a:p>
            <a:pPr>
              <a:spcBef>
                <a:spcPts val="200"/>
              </a:spcBef>
              <a:defRPr sz="1200">
                <a:solidFill>
                  <a:srgbClr val="E2E8F0"/>
                </a:solidFill>
                <a:latin typeface="Segoe UI"/>
              </a:defRPr>
            </a:pPr>
            <a:r>
              <a:t>Asocia cada acción al correo del claim 'email' garantizando no repudio.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950">
                <a:solidFill>
                  <a:srgbClr val="94A3B8"/>
                </a:solidFill>
                <a:latin typeface="Segoe UI"/>
              </a:defRPr>
            </a:pPr>
            <a:r>
              <a:t>Soluciones Cloud v1 • DSY1107 • Duoc UC • Arquitectura Cloud Native Segura</a:t>
            </a:r>
          </a:p>
        </p:txBody>
      </p:sp>
      <p:sp>
        <p:nvSpPr>
          <p:cNvPr id="5" name="Rounded Rectangle 4"/>
          <p:cNvSpPr/>
          <p:nvPr/>
        </p:nvSpPr>
        <p:spPr>
          <a:xfrm>
            <a:off x="731520" y="384048"/>
            <a:ext cx="2560320" cy="292608"/>
          </a:xfrm>
          <a:prstGeom prst="roundRect">
            <a:avLst/>
          </a:prstGeom>
          <a:solidFill>
            <a:srgbClr val="102646"/>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B4D8"/>
                </a:solidFill>
                <a:latin typeface="Segoe UI"/>
              </a:defRPr>
            </a:pPr>
            <a:r>
              <a:t>05 • CRIPTOGRAFÍA JWT</a:t>
            </a:r>
          </a:p>
        </p:txBody>
      </p:sp>
      <p:sp>
        <p:nvSpPr>
          <p:cNvPr id="6" name="TextBox 5"/>
          <p:cNvSpPr txBox="1"/>
          <p:nvPr/>
        </p:nvSpPr>
        <p:spPr>
          <a:xfrm>
            <a:off x="731520" y="749808"/>
            <a:ext cx="9326880" cy="685800"/>
          </a:xfrm>
          <a:prstGeom prst="rect">
            <a:avLst/>
          </a:prstGeom>
          <a:noFill/>
        </p:spPr>
        <p:txBody>
          <a:bodyPr wrap="square">
            <a:spAutoFit/>
          </a:bodyPr>
          <a:lstStyle/>
          <a:p>
            <a:pPr>
              <a:defRPr sz="2600" b="1">
                <a:solidFill>
                  <a:srgbClr val="FFFFFF"/>
                </a:solidFill>
                <a:latin typeface="Segoe UI"/>
              </a:defRPr>
            </a:pPr>
            <a:r>
              <a:t>Anatomía del Token JWT: El Pasaporte Digital</a:t>
            </a:r>
          </a:p>
        </p:txBody>
      </p:sp>
      <p:sp>
        <p:nvSpPr>
          <p:cNvPr id="7" name="TextBox 6"/>
          <p:cNvSpPr txBox="1"/>
          <p:nvPr/>
        </p:nvSpPr>
        <p:spPr>
          <a:xfrm>
            <a:off x="10332720" y="457200"/>
            <a:ext cx="1097280" cy="411480"/>
          </a:xfrm>
          <a:prstGeom prst="rect">
            <a:avLst/>
          </a:prstGeom>
          <a:noFill/>
        </p:spPr>
        <p:txBody>
          <a:bodyPr wrap="none">
            <a:spAutoFit/>
          </a:bodyPr>
          <a:lstStyle/>
          <a:p>
            <a:pPr algn="r">
              <a:defRPr sz="1300" b="1">
                <a:solidFill>
                  <a:srgbClr val="00B4D8"/>
                </a:solidFill>
                <a:latin typeface="Segoe UI"/>
              </a:defRPr>
            </a:pPr>
            <a:r>
              <a:t>06 / 10</a:t>
            </a:r>
          </a:p>
        </p:txBody>
      </p:sp>
      <p:sp>
        <p:nvSpPr>
          <p:cNvPr id="8" name="Rectangle 7"/>
          <p:cNvSpPr/>
          <p:nvPr/>
        </p:nvSpPr>
        <p:spPr>
          <a:xfrm>
            <a:off x="731520" y="1508760"/>
            <a:ext cx="10728655" cy="13716"/>
          </a:xfrm>
          <a:prstGeom prst="rect">
            <a:avLst/>
          </a:prstGeom>
          <a:solidFill>
            <a:srgbClr val="26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3383280" cy="310896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11680"/>
            <a:ext cx="2926080" cy="457200"/>
          </a:xfrm>
          <a:prstGeom prst="rect">
            <a:avLst/>
          </a:prstGeom>
          <a:noFill/>
        </p:spPr>
        <p:txBody>
          <a:bodyPr wrap="square">
            <a:spAutoFit/>
          </a:bodyPr>
          <a:lstStyle/>
          <a:p>
            <a:pPr>
              <a:defRPr sz="1600" b="1">
                <a:solidFill>
                  <a:srgbClr val="00B4D8"/>
                </a:solidFill>
                <a:latin typeface="Segoe UI"/>
              </a:defRPr>
            </a:pPr>
            <a:r>
              <a:t>1. Header (Encabezado)</a:t>
            </a:r>
          </a:p>
        </p:txBody>
      </p:sp>
      <p:sp>
        <p:nvSpPr>
          <p:cNvPr id="11" name="TextBox 10"/>
          <p:cNvSpPr txBox="1"/>
          <p:nvPr/>
        </p:nvSpPr>
        <p:spPr>
          <a:xfrm>
            <a:off x="914400" y="2423160"/>
            <a:ext cx="3017520" cy="2286000"/>
          </a:xfrm>
          <a:prstGeom prst="rect">
            <a:avLst/>
          </a:prstGeom>
          <a:noFill/>
        </p:spPr>
        <p:txBody>
          <a:bodyPr wrap="square">
            <a:spAutoFit/>
          </a:bodyPr>
          <a:lstStyle/>
          <a:p>
            <a:pPr>
              <a:defRPr sz="1250">
                <a:solidFill>
                  <a:srgbClr val="E2E8F0"/>
                </a:solidFill>
                <a:latin typeface="Segoe UI"/>
              </a:defRPr>
            </a:pPr>
            <a:r>
              <a:t>•  Algoritmo: RS256 (Criptografía asimétrica)</a:t>
            </a:r>
          </a:p>
          <a:p>
            <a:pPr>
              <a:spcBef>
                <a:spcPts val="800"/>
              </a:spcBef>
              <a:defRPr sz="1250">
                <a:solidFill>
                  <a:srgbClr val="E2E8F0"/>
                </a:solidFill>
                <a:latin typeface="Segoe UI"/>
              </a:defRPr>
            </a:pPr>
            <a:r>
              <a:t>•  Tipo de Token: JWT</a:t>
            </a:r>
          </a:p>
          <a:p>
            <a:pPr>
              <a:spcBef>
                <a:spcPts val="800"/>
              </a:spcBef>
              <a:defRPr sz="1250">
                <a:solidFill>
                  <a:srgbClr val="E2E8F0"/>
                </a:solidFill>
                <a:latin typeface="Segoe UI"/>
              </a:defRPr>
            </a:pPr>
            <a:r>
              <a:t>•  Key ID (kid): Identifica la clave pública en el JWKS</a:t>
            </a:r>
          </a:p>
        </p:txBody>
      </p:sp>
      <p:sp>
        <p:nvSpPr>
          <p:cNvPr id="12" name="Rounded Rectangle 11"/>
          <p:cNvSpPr/>
          <p:nvPr/>
        </p:nvSpPr>
        <p:spPr>
          <a:xfrm>
            <a:off x="4389120" y="1828800"/>
            <a:ext cx="3383280" cy="310896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011680"/>
            <a:ext cx="2926080" cy="457200"/>
          </a:xfrm>
          <a:prstGeom prst="rect">
            <a:avLst/>
          </a:prstGeom>
          <a:noFill/>
        </p:spPr>
        <p:txBody>
          <a:bodyPr wrap="square">
            <a:spAutoFit/>
          </a:bodyPr>
          <a:lstStyle/>
          <a:p>
            <a:pPr>
              <a:defRPr sz="1600" b="1">
                <a:solidFill>
                  <a:srgbClr val="06D6A0"/>
                </a:solidFill>
                <a:latin typeface="Segoe UI"/>
              </a:defRPr>
            </a:pPr>
            <a:r>
              <a:t>2. Payload (Declaraciones)</a:t>
            </a:r>
          </a:p>
        </p:txBody>
      </p:sp>
      <p:sp>
        <p:nvSpPr>
          <p:cNvPr id="14" name="TextBox 13"/>
          <p:cNvSpPr txBox="1"/>
          <p:nvPr/>
        </p:nvSpPr>
        <p:spPr>
          <a:xfrm>
            <a:off x="4572000" y="2423160"/>
            <a:ext cx="3017520" cy="2286000"/>
          </a:xfrm>
          <a:prstGeom prst="rect">
            <a:avLst/>
          </a:prstGeom>
          <a:noFill/>
        </p:spPr>
        <p:txBody>
          <a:bodyPr wrap="square">
            <a:spAutoFit/>
          </a:bodyPr>
          <a:lstStyle/>
          <a:p>
            <a:pPr>
              <a:defRPr sz="1250">
                <a:solidFill>
                  <a:srgbClr val="E2E8F0"/>
                </a:solidFill>
                <a:latin typeface="Segoe UI"/>
              </a:defRPr>
            </a:pPr>
            <a:r>
              <a:t>•  sub: Identificador único del usuario (UUID)</a:t>
            </a:r>
          </a:p>
          <a:p>
            <a:pPr>
              <a:spcBef>
                <a:spcPts val="800"/>
              </a:spcBef>
              <a:defRPr sz="1250">
                <a:solidFill>
                  <a:srgbClr val="E2E8F0"/>
                </a:solidFill>
                <a:latin typeface="Segoe UI"/>
              </a:defRPr>
            </a:pPr>
            <a:r>
              <a:t>•  email: Correo electrónico verificado</a:t>
            </a:r>
          </a:p>
          <a:p>
            <a:pPr>
              <a:spcBef>
                <a:spcPts val="800"/>
              </a:spcBef>
              <a:defRPr sz="1250">
                <a:solidFill>
                  <a:srgbClr val="E2E8F0"/>
                </a:solidFill>
                <a:latin typeface="Segoe UI"/>
              </a:defRPr>
            </a:pPr>
            <a:r>
              <a:t>•  iss: Emisor oficial (AWS Cognito Pool)</a:t>
            </a:r>
          </a:p>
          <a:p>
            <a:pPr>
              <a:spcBef>
                <a:spcPts val="800"/>
              </a:spcBef>
              <a:defRPr sz="1250">
                <a:solidFill>
                  <a:srgbClr val="E2E8F0"/>
                </a:solidFill>
                <a:latin typeface="Segoe UI"/>
              </a:defRPr>
            </a:pPr>
            <a:r>
              <a:t>•  exp: Timestamp exacto de expiración</a:t>
            </a:r>
          </a:p>
        </p:txBody>
      </p:sp>
      <p:sp>
        <p:nvSpPr>
          <p:cNvPr id="15" name="Rounded Rectangle 14"/>
          <p:cNvSpPr/>
          <p:nvPr/>
        </p:nvSpPr>
        <p:spPr>
          <a:xfrm>
            <a:off x="8046720" y="1828800"/>
            <a:ext cx="3383280" cy="310896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011680"/>
            <a:ext cx="2926080" cy="457200"/>
          </a:xfrm>
          <a:prstGeom prst="rect">
            <a:avLst/>
          </a:prstGeom>
          <a:noFill/>
        </p:spPr>
        <p:txBody>
          <a:bodyPr wrap="square">
            <a:spAutoFit/>
          </a:bodyPr>
          <a:lstStyle/>
          <a:p>
            <a:pPr>
              <a:defRPr sz="1600" b="1">
                <a:solidFill>
                  <a:srgbClr val="FFB703"/>
                </a:solidFill>
                <a:latin typeface="Segoe UI"/>
              </a:defRPr>
            </a:pPr>
            <a:r>
              <a:t>3. Signature (Firma Digital)</a:t>
            </a:r>
          </a:p>
        </p:txBody>
      </p:sp>
      <p:sp>
        <p:nvSpPr>
          <p:cNvPr id="17" name="TextBox 16"/>
          <p:cNvSpPr txBox="1"/>
          <p:nvPr/>
        </p:nvSpPr>
        <p:spPr>
          <a:xfrm>
            <a:off x="8229600" y="2423160"/>
            <a:ext cx="3017520" cy="2286000"/>
          </a:xfrm>
          <a:prstGeom prst="rect">
            <a:avLst/>
          </a:prstGeom>
          <a:noFill/>
        </p:spPr>
        <p:txBody>
          <a:bodyPr wrap="square">
            <a:spAutoFit/>
          </a:bodyPr>
          <a:lstStyle/>
          <a:p>
            <a:pPr>
              <a:defRPr sz="1250">
                <a:solidFill>
                  <a:srgbClr val="E2E8F0"/>
                </a:solidFill>
                <a:latin typeface="Segoe UI"/>
              </a:defRPr>
            </a:pPr>
            <a:r>
              <a:t>•  Generada con la clave privada de Amazon</a:t>
            </a:r>
          </a:p>
          <a:p>
            <a:pPr>
              <a:spcBef>
                <a:spcPts val="800"/>
              </a:spcBef>
              <a:defRPr sz="1250">
                <a:solidFill>
                  <a:srgbClr val="E2E8F0"/>
                </a:solidFill>
                <a:latin typeface="Segoe UI"/>
              </a:defRPr>
            </a:pPr>
            <a:r>
              <a:t>•  Garantiza integridad matemática absoluta</a:t>
            </a:r>
          </a:p>
          <a:p>
            <a:pPr>
              <a:spcBef>
                <a:spcPts val="800"/>
              </a:spcBef>
              <a:defRPr sz="1250">
                <a:solidFill>
                  <a:srgbClr val="E2E8F0"/>
                </a:solidFill>
                <a:latin typeface="Segoe UI"/>
              </a:defRPr>
            </a:pPr>
            <a:r>
              <a:t>•  Si se altera un solo bit, la firma queda invalidada</a:t>
            </a:r>
          </a:p>
        </p:txBody>
      </p:sp>
      <p:sp>
        <p:nvSpPr>
          <p:cNvPr id="18" name="Rounded Rectangle 17"/>
          <p:cNvSpPr/>
          <p:nvPr/>
        </p:nvSpPr>
        <p:spPr>
          <a:xfrm>
            <a:off x="731520" y="5166360"/>
            <a:ext cx="10728655" cy="960120"/>
          </a:xfrm>
          <a:prstGeom prst="roundRect">
            <a:avLst/>
          </a:prstGeom>
          <a:solidFill>
            <a:srgbClr val="14203C"/>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5349240"/>
            <a:ext cx="10271455" cy="457200"/>
          </a:xfrm>
          <a:prstGeom prst="rect">
            <a:avLst/>
          </a:prstGeom>
          <a:noFill/>
        </p:spPr>
        <p:txBody>
          <a:bodyPr wrap="square">
            <a:spAutoFit/>
          </a:bodyPr>
          <a:lstStyle/>
          <a:p>
            <a:pPr>
              <a:defRPr sz="1600" b="1">
                <a:solidFill>
                  <a:srgbClr val="FFFFFF"/>
                </a:solidFill>
                <a:latin typeface="Segoe UI"/>
              </a:defRPr>
            </a:pPr>
            <a:r>
              <a:t>La Analogía del Pasaporte Digital</a:t>
            </a:r>
          </a:p>
        </p:txBody>
      </p:sp>
      <p:sp>
        <p:nvSpPr>
          <p:cNvPr id="20" name="TextBox 19"/>
          <p:cNvSpPr txBox="1"/>
          <p:nvPr/>
        </p:nvSpPr>
        <p:spPr>
          <a:xfrm>
            <a:off x="960120" y="5532120"/>
            <a:ext cx="10241280" cy="502920"/>
          </a:xfrm>
          <a:prstGeom prst="rect">
            <a:avLst/>
          </a:prstGeom>
          <a:noFill/>
        </p:spPr>
        <p:txBody>
          <a:bodyPr wrap="square">
            <a:spAutoFit/>
          </a:bodyPr>
          <a:lstStyle/>
          <a:p>
            <a:pPr>
              <a:defRPr sz="1250" b="1">
                <a:solidFill>
                  <a:srgbClr val="00B4D8"/>
                </a:solidFill>
                <a:latin typeface="Segoe UI"/>
              </a:defRPr>
            </a:pPr>
            <a:r>
              <a:t>El JWT es como un pasaporte sellado por un consulado (AWS): el backend no necesita llamar al consulado cada vez que entra un turista; solo revisa que el sello sea auténtico con la firma pública.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950">
                <a:solidFill>
                  <a:srgbClr val="94A3B8"/>
                </a:solidFill>
                <a:latin typeface="Segoe UI"/>
              </a:defRPr>
            </a:pPr>
            <a:r>
              <a:t>Soluciones Cloud v1 • DSY1107 • Duoc UC • Arquitectura Cloud Native Segura</a:t>
            </a:r>
          </a:p>
        </p:txBody>
      </p:sp>
      <p:sp>
        <p:nvSpPr>
          <p:cNvPr id="5" name="Rounded Rectangle 4"/>
          <p:cNvSpPr/>
          <p:nvPr/>
        </p:nvSpPr>
        <p:spPr>
          <a:xfrm>
            <a:off x="731520" y="384048"/>
            <a:ext cx="2560320" cy="292608"/>
          </a:xfrm>
          <a:prstGeom prst="roundRect">
            <a:avLst/>
          </a:prstGeom>
          <a:solidFill>
            <a:srgbClr val="102646"/>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B4D8"/>
                </a:solidFill>
                <a:latin typeface="Segoe UI"/>
              </a:defRPr>
            </a:pPr>
            <a:r>
              <a:t>06 • BACKEND &amp; LÓGICA</a:t>
            </a:r>
          </a:p>
        </p:txBody>
      </p:sp>
      <p:sp>
        <p:nvSpPr>
          <p:cNvPr id="6" name="TextBox 5"/>
          <p:cNvSpPr txBox="1"/>
          <p:nvPr/>
        </p:nvSpPr>
        <p:spPr>
          <a:xfrm>
            <a:off x="731520" y="749808"/>
            <a:ext cx="9326880" cy="685800"/>
          </a:xfrm>
          <a:prstGeom prst="rect">
            <a:avLst/>
          </a:prstGeom>
          <a:noFill/>
        </p:spPr>
        <p:txBody>
          <a:bodyPr wrap="square">
            <a:spAutoFit/>
          </a:bodyPr>
          <a:lstStyle/>
          <a:p>
            <a:pPr>
              <a:defRPr sz="2600" b="1">
                <a:solidFill>
                  <a:srgbClr val="FFFFFF"/>
                </a:solidFill>
                <a:latin typeface="Segoe UI"/>
              </a:defRPr>
            </a:pPr>
            <a:r>
              <a:t>Backend Stateless: Spring Boot 3 &amp; Resource Server</a:t>
            </a:r>
          </a:p>
        </p:txBody>
      </p:sp>
      <p:sp>
        <p:nvSpPr>
          <p:cNvPr id="7" name="TextBox 6"/>
          <p:cNvSpPr txBox="1"/>
          <p:nvPr/>
        </p:nvSpPr>
        <p:spPr>
          <a:xfrm>
            <a:off x="10332720" y="457200"/>
            <a:ext cx="1097280" cy="411480"/>
          </a:xfrm>
          <a:prstGeom prst="rect">
            <a:avLst/>
          </a:prstGeom>
          <a:noFill/>
        </p:spPr>
        <p:txBody>
          <a:bodyPr wrap="none">
            <a:spAutoFit/>
          </a:bodyPr>
          <a:lstStyle/>
          <a:p>
            <a:pPr algn="r">
              <a:defRPr sz="1300" b="1">
                <a:solidFill>
                  <a:srgbClr val="00B4D8"/>
                </a:solidFill>
                <a:latin typeface="Segoe UI"/>
              </a:defRPr>
            </a:pPr>
            <a:r>
              <a:t>07 / 10</a:t>
            </a:r>
          </a:p>
        </p:txBody>
      </p:sp>
      <p:sp>
        <p:nvSpPr>
          <p:cNvPr id="8" name="Rectangle 7"/>
          <p:cNvSpPr/>
          <p:nvPr/>
        </p:nvSpPr>
        <p:spPr>
          <a:xfrm>
            <a:off x="731520" y="1508760"/>
            <a:ext cx="10728655" cy="13716"/>
          </a:xfrm>
          <a:prstGeom prst="rect">
            <a:avLst/>
          </a:prstGeom>
          <a:solidFill>
            <a:srgbClr val="26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10728655" cy="123444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11680"/>
            <a:ext cx="10271455" cy="457200"/>
          </a:xfrm>
          <a:prstGeom prst="rect">
            <a:avLst/>
          </a:prstGeom>
          <a:noFill/>
        </p:spPr>
        <p:txBody>
          <a:bodyPr wrap="square">
            <a:spAutoFit/>
          </a:bodyPr>
          <a:lstStyle/>
          <a:p>
            <a:pPr>
              <a:defRPr sz="1600" b="1">
                <a:solidFill>
                  <a:srgbClr val="00B4D8"/>
                </a:solidFill>
                <a:latin typeface="Segoe UI"/>
              </a:defRPr>
            </a:pPr>
            <a:r>
              <a:t>Arquitectura 100% Stateless</a:t>
            </a:r>
          </a:p>
        </p:txBody>
      </p:sp>
      <p:sp>
        <p:nvSpPr>
          <p:cNvPr id="11" name="TextBox 10"/>
          <p:cNvSpPr txBox="1"/>
          <p:nvPr/>
        </p:nvSpPr>
        <p:spPr>
          <a:xfrm>
            <a:off x="960120" y="2331720"/>
            <a:ext cx="10241280" cy="640080"/>
          </a:xfrm>
          <a:prstGeom prst="rect">
            <a:avLst/>
          </a:prstGeom>
          <a:noFill/>
        </p:spPr>
        <p:txBody>
          <a:bodyPr wrap="square">
            <a:spAutoFit/>
          </a:bodyPr>
          <a:lstStyle/>
          <a:p>
            <a:pPr>
              <a:defRPr sz="1300">
                <a:solidFill>
                  <a:srgbClr val="E2E8F0"/>
                </a:solidFill>
                <a:latin typeface="Segoe UI"/>
              </a:defRPr>
            </a:pPr>
            <a:r>
              <a:t>El backend no guarda sesiones en memoria ni cookies de sesión. Cada petición HTTP es autónoma y autosuficiente, permitiendo réplicas instantáneas en Render sin sincronización.</a:t>
            </a:r>
          </a:p>
        </p:txBody>
      </p:sp>
      <p:sp>
        <p:nvSpPr>
          <p:cNvPr id="12" name="Rounded Rectangle 11"/>
          <p:cNvSpPr/>
          <p:nvPr/>
        </p:nvSpPr>
        <p:spPr>
          <a:xfrm>
            <a:off x="731520" y="3246120"/>
            <a:ext cx="10728655" cy="123444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29000"/>
            <a:ext cx="10271455" cy="457200"/>
          </a:xfrm>
          <a:prstGeom prst="rect">
            <a:avLst/>
          </a:prstGeom>
          <a:noFill/>
        </p:spPr>
        <p:txBody>
          <a:bodyPr wrap="square">
            <a:spAutoFit/>
          </a:bodyPr>
          <a:lstStyle/>
          <a:p>
            <a:pPr>
              <a:defRPr sz="1600" b="1">
                <a:solidFill>
                  <a:srgbClr val="06D6A0"/>
                </a:solidFill>
                <a:latin typeface="Segoe UI"/>
              </a:defRPr>
            </a:pPr>
            <a:r>
              <a:t>Sincronización Automática con JWKS</a:t>
            </a:r>
          </a:p>
        </p:txBody>
      </p:sp>
      <p:sp>
        <p:nvSpPr>
          <p:cNvPr id="14" name="TextBox 13"/>
          <p:cNvSpPr txBox="1"/>
          <p:nvPr/>
        </p:nvSpPr>
        <p:spPr>
          <a:xfrm>
            <a:off x="960120" y="3749039"/>
            <a:ext cx="10241280" cy="640080"/>
          </a:xfrm>
          <a:prstGeom prst="rect">
            <a:avLst/>
          </a:prstGeom>
          <a:noFill/>
        </p:spPr>
        <p:txBody>
          <a:bodyPr wrap="square">
            <a:spAutoFit/>
          </a:bodyPr>
          <a:lstStyle/>
          <a:p>
            <a:pPr>
              <a:defRPr sz="1300">
                <a:solidFill>
                  <a:srgbClr val="E2E8F0"/>
                </a:solidFill>
                <a:latin typeface="Segoe UI"/>
              </a:defRPr>
            </a:pPr>
            <a:r>
              <a:t>Spring Security consulta el endpoint de llaves públicas de Cognito: valida emisor (iss), audiencia y vigencia temporal (exp) de forma asimétrica.</a:t>
            </a:r>
          </a:p>
        </p:txBody>
      </p:sp>
      <p:sp>
        <p:nvSpPr>
          <p:cNvPr id="15" name="Rounded Rectangle 14"/>
          <p:cNvSpPr/>
          <p:nvPr/>
        </p:nvSpPr>
        <p:spPr>
          <a:xfrm>
            <a:off x="731520" y="4663440"/>
            <a:ext cx="10728655" cy="123444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846320"/>
            <a:ext cx="10271455" cy="457200"/>
          </a:xfrm>
          <a:prstGeom prst="rect">
            <a:avLst/>
          </a:prstGeom>
          <a:noFill/>
        </p:spPr>
        <p:txBody>
          <a:bodyPr wrap="square">
            <a:spAutoFit/>
          </a:bodyPr>
          <a:lstStyle/>
          <a:p>
            <a:pPr>
              <a:defRPr sz="1600" b="1">
                <a:solidFill>
                  <a:srgbClr val="FFB703"/>
                </a:solidFill>
                <a:latin typeface="Segoe UI"/>
              </a:defRPr>
            </a:pPr>
            <a:r>
              <a:t>Extracción de Identidad Segura</a:t>
            </a:r>
          </a:p>
        </p:txBody>
      </p:sp>
      <p:sp>
        <p:nvSpPr>
          <p:cNvPr id="17" name="TextBox 16"/>
          <p:cNvSpPr txBox="1"/>
          <p:nvPr/>
        </p:nvSpPr>
        <p:spPr>
          <a:xfrm>
            <a:off x="960120" y="5166359"/>
            <a:ext cx="10241280" cy="640080"/>
          </a:xfrm>
          <a:prstGeom prst="rect">
            <a:avLst/>
          </a:prstGeom>
          <a:noFill/>
        </p:spPr>
        <p:txBody>
          <a:bodyPr wrap="square">
            <a:spAutoFit/>
          </a:bodyPr>
          <a:lstStyle/>
          <a:p>
            <a:pPr>
              <a:defRPr sz="1300">
                <a:solidFill>
                  <a:srgbClr val="E2E8F0"/>
                </a:solidFill>
                <a:latin typeface="Segoe UI"/>
              </a:defRPr>
            </a:pPr>
            <a:r>
              <a:t>Mediante @AuthenticationPrincipal Jwt, el controlador obtiene directamente el email verificado del usuario para registrar la autoría del producto creado.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950">
                <a:solidFill>
                  <a:srgbClr val="94A3B8"/>
                </a:solidFill>
                <a:latin typeface="Segoe UI"/>
              </a:defRPr>
            </a:pPr>
            <a:r>
              <a:t>Soluciones Cloud v1 • DSY1107 • Duoc UC • Arquitectura Cloud Native Segura</a:t>
            </a:r>
          </a:p>
        </p:txBody>
      </p:sp>
      <p:sp>
        <p:nvSpPr>
          <p:cNvPr id="5" name="Rounded Rectangle 4"/>
          <p:cNvSpPr/>
          <p:nvPr/>
        </p:nvSpPr>
        <p:spPr>
          <a:xfrm>
            <a:off x="731520" y="384048"/>
            <a:ext cx="2560320" cy="292608"/>
          </a:xfrm>
          <a:prstGeom prst="roundRect">
            <a:avLst/>
          </a:prstGeom>
          <a:solidFill>
            <a:srgbClr val="102646"/>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B4D8"/>
                </a:solidFill>
                <a:latin typeface="Segoe UI"/>
              </a:defRPr>
            </a:pPr>
            <a:r>
              <a:t>07 • ALMACENAMIENTO</a:t>
            </a:r>
          </a:p>
        </p:txBody>
      </p:sp>
      <p:sp>
        <p:nvSpPr>
          <p:cNvPr id="6" name="TextBox 5"/>
          <p:cNvSpPr txBox="1"/>
          <p:nvPr/>
        </p:nvSpPr>
        <p:spPr>
          <a:xfrm>
            <a:off x="731520" y="749808"/>
            <a:ext cx="9326880" cy="685800"/>
          </a:xfrm>
          <a:prstGeom prst="rect">
            <a:avLst/>
          </a:prstGeom>
          <a:noFill/>
        </p:spPr>
        <p:txBody>
          <a:bodyPr wrap="square">
            <a:spAutoFit/>
          </a:bodyPr>
          <a:lstStyle/>
          <a:p>
            <a:pPr>
              <a:defRPr sz="2600" b="1">
                <a:solidFill>
                  <a:srgbClr val="FFFFFF"/>
                </a:solidFill>
                <a:latin typeface="Segoe UI"/>
              </a:defRPr>
            </a:pPr>
            <a:r>
              <a:t>Persistencia Cloud: Supabase PostgreSQL Gestionado</a:t>
            </a:r>
          </a:p>
        </p:txBody>
      </p:sp>
      <p:sp>
        <p:nvSpPr>
          <p:cNvPr id="7" name="TextBox 6"/>
          <p:cNvSpPr txBox="1"/>
          <p:nvPr/>
        </p:nvSpPr>
        <p:spPr>
          <a:xfrm>
            <a:off x="10332720" y="457200"/>
            <a:ext cx="1097280" cy="411480"/>
          </a:xfrm>
          <a:prstGeom prst="rect">
            <a:avLst/>
          </a:prstGeom>
          <a:noFill/>
        </p:spPr>
        <p:txBody>
          <a:bodyPr wrap="none">
            <a:spAutoFit/>
          </a:bodyPr>
          <a:lstStyle/>
          <a:p>
            <a:pPr algn="r">
              <a:defRPr sz="1300" b="1">
                <a:solidFill>
                  <a:srgbClr val="00B4D8"/>
                </a:solidFill>
                <a:latin typeface="Segoe UI"/>
              </a:defRPr>
            </a:pPr>
            <a:r>
              <a:t>08 / 10</a:t>
            </a:r>
          </a:p>
        </p:txBody>
      </p:sp>
      <p:sp>
        <p:nvSpPr>
          <p:cNvPr id="8" name="Rectangle 7"/>
          <p:cNvSpPr/>
          <p:nvPr/>
        </p:nvSpPr>
        <p:spPr>
          <a:xfrm>
            <a:off x="731520" y="1508760"/>
            <a:ext cx="10728655" cy="13716"/>
          </a:xfrm>
          <a:prstGeom prst="rect">
            <a:avLst/>
          </a:prstGeom>
          <a:solidFill>
            <a:srgbClr val="26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10728655" cy="123444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11680"/>
            <a:ext cx="10271455" cy="457200"/>
          </a:xfrm>
          <a:prstGeom prst="rect">
            <a:avLst/>
          </a:prstGeom>
          <a:noFill/>
        </p:spPr>
        <p:txBody>
          <a:bodyPr wrap="square">
            <a:spAutoFit/>
          </a:bodyPr>
          <a:lstStyle/>
          <a:p>
            <a:pPr>
              <a:defRPr sz="1600" b="1">
                <a:solidFill>
                  <a:srgbClr val="00B4D8"/>
                </a:solidFill>
                <a:latin typeface="Segoe UI"/>
              </a:defRPr>
            </a:pPr>
            <a:r>
              <a:t>Base de Datos Relacional ACID</a:t>
            </a:r>
          </a:p>
        </p:txBody>
      </p:sp>
      <p:sp>
        <p:nvSpPr>
          <p:cNvPr id="11" name="TextBox 10"/>
          <p:cNvSpPr txBox="1"/>
          <p:nvPr/>
        </p:nvSpPr>
        <p:spPr>
          <a:xfrm>
            <a:off x="960120" y="2331720"/>
            <a:ext cx="10241280" cy="640080"/>
          </a:xfrm>
          <a:prstGeom prst="rect">
            <a:avLst/>
          </a:prstGeom>
          <a:noFill/>
        </p:spPr>
        <p:txBody>
          <a:bodyPr wrap="square">
            <a:spAutoFit/>
          </a:bodyPr>
          <a:lstStyle/>
          <a:p>
            <a:pPr>
              <a:defRPr sz="1300">
                <a:solidFill>
                  <a:srgbClr val="E2E8F0"/>
                </a:solidFill>
                <a:latin typeface="Segoe UI"/>
              </a:defRPr>
            </a:pPr>
            <a:r>
              <a:t>PostgreSQL 15+ administrado en la nube con integridad transaccional, claves foráneas, índices optimizados y respaldos continuos sin mantenimiento manual.</a:t>
            </a:r>
          </a:p>
        </p:txBody>
      </p:sp>
      <p:sp>
        <p:nvSpPr>
          <p:cNvPr id="12" name="Rounded Rectangle 11"/>
          <p:cNvSpPr/>
          <p:nvPr/>
        </p:nvSpPr>
        <p:spPr>
          <a:xfrm>
            <a:off x="731520" y="3246120"/>
            <a:ext cx="10728655" cy="123444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29000"/>
            <a:ext cx="10271455" cy="457200"/>
          </a:xfrm>
          <a:prstGeom prst="rect">
            <a:avLst/>
          </a:prstGeom>
          <a:noFill/>
        </p:spPr>
        <p:txBody>
          <a:bodyPr wrap="square">
            <a:spAutoFit/>
          </a:bodyPr>
          <a:lstStyle/>
          <a:p>
            <a:pPr>
              <a:defRPr sz="1600" b="1">
                <a:solidFill>
                  <a:srgbClr val="06D6A0"/>
                </a:solidFill>
                <a:latin typeface="Segoe UI"/>
              </a:defRPr>
            </a:pPr>
            <a:r>
              <a:t>Session Pooler (Puerto 5432)</a:t>
            </a:r>
          </a:p>
        </p:txBody>
      </p:sp>
      <p:sp>
        <p:nvSpPr>
          <p:cNvPr id="14" name="TextBox 13"/>
          <p:cNvSpPr txBox="1"/>
          <p:nvPr/>
        </p:nvSpPr>
        <p:spPr>
          <a:xfrm>
            <a:off x="960120" y="3749039"/>
            <a:ext cx="10241280" cy="640080"/>
          </a:xfrm>
          <a:prstGeom prst="rect">
            <a:avLst/>
          </a:prstGeom>
          <a:noFill/>
        </p:spPr>
        <p:txBody>
          <a:bodyPr wrap="square">
            <a:spAutoFit/>
          </a:bodyPr>
          <a:lstStyle/>
          <a:p>
            <a:pPr>
              <a:defRPr sz="1300">
                <a:solidFill>
                  <a:srgbClr val="E2E8F0"/>
                </a:solidFill>
                <a:latin typeface="Segoe UI"/>
              </a:defRPr>
            </a:pPr>
            <a:r>
              <a:t>Integración optimizada con HikariCP. El pooler de Supabase multiplexa las conexiones concurrentes, evitando la saturación del servidor bajo alta concurrencia.</a:t>
            </a:r>
          </a:p>
        </p:txBody>
      </p:sp>
      <p:sp>
        <p:nvSpPr>
          <p:cNvPr id="15" name="Rounded Rectangle 14"/>
          <p:cNvSpPr/>
          <p:nvPr/>
        </p:nvSpPr>
        <p:spPr>
          <a:xfrm>
            <a:off x="731520" y="4663440"/>
            <a:ext cx="10728655" cy="1234440"/>
          </a:xfrm>
          <a:prstGeom prst="roundRect">
            <a:avLst/>
          </a:prstGeom>
          <a:solidFill>
            <a:srgbClr val="18223A"/>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846320"/>
            <a:ext cx="10271455" cy="457200"/>
          </a:xfrm>
          <a:prstGeom prst="rect">
            <a:avLst/>
          </a:prstGeom>
          <a:noFill/>
        </p:spPr>
        <p:txBody>
          <a:bodyPr wrap="square">
            <a:spAutoFit/>
          </a:bodyPr>
          <a:lstStyle/>
          <a:p>
            <a:pPr>
              <a:defRPr sz="1600" b="1">
                <a:solidFill>
                  <a:srgbClr val="FFB703"/>
                </a:solidFill>
                <a:latin typeface="Segoe UI"/>
              </a:defRPr>
            </a:pPr>
            <a:r>
              <a:t>Aislamiento Total de Credenciales</a:t>
            </a:r>
          </a:p>
        </p:txBody>
      </p:sp>
      <p:sp>
        <p:nvSpPr>
          <p:cNvPr id="17" name="TextBox 16"/>
          <p:cNvSpPr txBox="1"/>
          <p:nvPr/>
        </p:nvSpPr>
        <p:spPr>
          <a:xfrm>
            <a:off x="960120" y="5166359"/>
            <a:ext cx="10241280" cy="640080"/>
          </a:xfrm>
          <a:prstGeom prst="rect">
            <a:avLst/>
          </a:prstGeom>
          <a:noFill/>
        </p:spPr>
        <p:txBody>
          <a:bodyPr wrap="square">
            <a:spAutoFit/>
          </a:bodyPr>
          <a:lstStyle/>
          <a:p>
            <a:pPr>
              <a:defRPr sz="1300">
                <a:solidFill>
                  <a:srgbClr val="E2E8F0"/>
                </a:solidFill>
                <a:latin typeface="Segoe UI"/>
              </a:defRPr>
            </a:pPr>
            <a:r>
              <a:t>La base de datos sólo acepta conexiones SSL cifradas. Las credenciales residen en variables de entorno seguras en Render, jamás expuestas en el repositorio.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950">
                <a:solidFill>
                  <a:srgbClr val="94A3B8"/>
                </a:solidFill>
                <a:latin typeface="Segoe UI"/>
              </a:defRPr>
            </a:pPr>
            <a:r>
              <a:t>Soluciones Cloud v1 • DSY1107 • Duoc UC • Arquitectura Cloud Native Segura</a:t>
            </a:r>
          </a:p>
        </p:txBody>
      </p:sp>
      <p:sp>
        <p:nvSpPr>
          <p:cNvPr id="5" name="Rounded Rectangle 4"/>
          <p:cNvSpPr/>
          <p:nvPr/>
        </p:nvSpPr>
        <p:spPr>
          <a:xfrm>
            <a:off x="731520" y="384048"/>
            <a:ext cx="2560320" cy="292608"/>
          </a:xfrm>
          <a:prstGeom prst="roundRect">
            <a:avLst/>
          </a:prstGeom>
          <a:solidFill>
            <a:srgbClr val="102646"/>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B4D8"/>
                </a:solidFill>
                <a:latin typeface="Segoe UI"/>
              </a:defRPr>
            </a:pPr>
            <a:r>
              <a:t>08 • LIVE DEMO</a:t>
            </a:r>
          </a:p>
        </p:txBody>
      </p:sp>
      <p:sp>
        <p:nvSpPr>
          <p:cNvPr id="6" name="TextBox 5"/>
          <p:cNvSpPr txBox="1"/>
          <p:nvPr/>
        </p:nvSpPr>
        <p:spPr>
          <a:xfrm>
            <a:off x="731520" y="749808"/>
            <a:ext cx="9326880" cy="685800"/>
          </a:xfrm>
          <a:prstGeom prst="rect">
            <a:avLst/>
          </a:prstGeom>
          <a:noFill/>
        </p:spPr>
        <p:txBody>
          <a:bodyPr wrap="square">
            <a:spAutoFit/>
          </a:bodyPr>
          <a:lstStyle/>
          <a:p>
            <a:pPr>
              <a:defRPr sz="2600" b="1">
                <a:solidFill>
                  <a:srgbClr val="FFFFFF"/>
                </a:solidFill>
                <a:latin typeface="Segoe UI"/>
              </a:defRPr>
            </a:pPr>
            <a:r>
              <a:t>Demostración Práctica: Circuito de Validación en Vivo</a:t>
            </a:r>
          </a:p>
        </p:txBody>
      </p:sp>
      <p:sp>
        <p:nvSpPr>
          <p:cNvPr id="7" name="TextBox 6"/>
          <p:cNvSpPr txBox="1"/>
          <p:nvPr/>
        </p:nvSpPr>
        <p:spPr>
          <a:xfrm>
            <a:off x="10332720" y="457200"/>
            <a:ext cx="1097280" cy="411480"/>
          </a:xfrm>
          <a:prstGeom prst="rect">
            <a:avLst/>
          </a:prstGeom>
          <a:noFill/>
        </p:spPr>
        <p:txBody>
          <a:bodyPr wrap="none">
            <a:spAutoFit/>
          </a:bodyPr>
          <a:lstStyle/>
          <a:p>
            <a:pPr algn="r">
              <a:defRPr sz="1300" b="1">
                <a:solidFill>
                  <a:srgbClr val="00B4D8"/>
                </a:solidFill>
                <a:latin typeface="Segoe UI"/>
              </a:defRPr>
            </a:pPr>
            <a:r>
              <a:t>09 / 10</a:t>
            </a:r>
          </a:p>
        </p:txBody>
      </p:sp>
      <p:sp>
        <p:nvSpPr>
          <p:cNvPr id="8" name="Rectangle 7"/>
          <p:cNvSpPr/>
          <p:nvPr/>
        </p:nvSpPr>
        <p:spPr>
          <a:xfrm>
            <a:off x="731520" y="1508760"/>
            <a:ext cx="10728655" cy="13716"/>
          </a:xfrm>
          <a:prstGeom prst="rect">
            <a:avLst/>
          </a:prstGeom>
          <a:solidFill>
            <a:srgbClr val="26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5257800" cy="1920240"/>
          </a:xfrm>
          <a:prstGeom prst="roundRect">
            <a:avLst/>
          </a:prstGeom>
          <a:solidFill>
            <a:srgbClr val="121C32"/>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11680"/>
            <a:ext cx="4800600" cy="457200"/>
          </a:xfrm>
          <a:prstGeom prst="rect">
            <a:avLst/>
          </a:prstGeom>
          <a:noFill/>
        </p:spPr>
        <p:txBody>
          <a:bodyPr wrap="square">
            <a:spAutoFit/>
          </a:bodyPr>
          <a:lstStyle/>
          <a:p>
            <a:pPr>
              <a:defRPr sz="1600" b="1">
                <a:solidFill>
                  <a:srgbClr val="00B4D8"/>
                </a:solidFill>
                <a:latin typeface="Segoe UI"/>
              </a:defRPr>
            </a:pPr>
            <a:r>
              <a:t>Paso 1: Acceso Público</a:t>
            </a:r>
          </a:p>
        </p:txBody>
      </p:sp>
      <p:sp>
        <p:nvSpPr>
          <p:cNvPr id="11" name="TextBox 10"/>
          <p:cNvSpPr txBox="1"/>
          <p:nvPr/>
        </p:nvSpPr>
        <p:spPr>
          <a:xfrm>
            <a:off x="960120" y="2514600"/>
            <a:ext cx="4800600" cy="1051560"/>
          </a:xfrm>
          <a:prstGeom prst="rect">
            <a:avLst/>
          </a:prstGeom>
          <a:noFill/>
        </p:spPr>
        <p:txBody>
          <a:bodyPr wrap="square">
            <a:spAutoFit/>
          </a:bodyPr>
          <a:lstStyle/>
          <a:p>
            <a:pPr>
              <a:defRPr sz="1300">
                <a:solidFill>
                  <a:srgbClr val="E2E8F0"/>
                </a:solidFill>
                <a:latin typeface="Segoe UI"/>
              </a:defRPr>
            </a:pPr>
            <a:r>
              <a:t>Ingreso a Vercel sin sesión. El catálogo carga públicamente desde Supabase sin restricciones de acceso.</a:t>
            </a:r>
          </a:p>
        </p:txBody>
      </p:sp>
      <p:sp>
        <p:nvSpPr>
          <p:cNvPr id="12" name="Rounded Rectangle 11"/>
          <p:cNvSpPr/>
          <p:nvPr/>
        </p:nvSpPr>
        <p:spPr>
          <a:xfrm>
            <a:off x="6172200" y="1828800"/>
            <a:ext cx="5257800" cy="1920240"/>
          </a:xfrm>
          <a:prstGeom prst="roundRect">
            <a:avLst/>
          </a:prstGeom>
          <a:solidFill>
            <a:srgbClr val="121C32"/>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011680"/>
            <a:ext cx="4800600" cy="457200"/>
          </a:xfrm>
          <a:prstGeom prst="rect">
            <a:avLst/>
          </a:prstGeom>
          <a:noFill/>
        </p:spPr>
        <p:txBody>
          <a:bodyPr wrap="square">
            <a:spAutoFit/>
          </a:bodyPr>
          <a:lstStyle/>
          <a:p>
            <a:pPr>
              <a:defRPr sz="1600" b="1">
                <a:solidFill>
                  <a:srgbClr val="06D6A0"/>
                </a:solidFill>
                <a:latin typeface="Segoe UI"/>
              </a:defRPr>
            </a:pPr>
            <a:r>
              <a:t>Paso 2: Login con Cognito</a:t>
            </a:r>
          </a:p>
        </p:txBody>
      </p:sp>
      <p:sp>
        <p:nvSpPr>
          <p:cNvPr id="14" name="TextBox 13"/>
          <p:cNvSpPr txBox="1"/>
          <p:nvPr/>
        </p:nvSpPr>
        <p:spPr>
          <a:xfrm>
            <a:off x="6400800" y="2514600"/>
            <a:ext cx="4800600" cy="1051560"/>
          </a:xfrm>
          <a:prstGeom prst="rect">
            <a:avLst/>
          </a:prstGeom>
          <a:noFill/>
        </p:spPr>
        <p:txBody>
          <a:bodyPr wrap="square">
            <a:spAutoFit/>
          </a:bodyPr>
          <a:lstStyle/>
          <a:p>
            <a:pPr>
              <a:defRPr sz="1300">
                <a:solidFill>
                  <a:srgbClr val="E2E8F0"/>
                </a:solidFill>
                <a:latin typeface="Segoe UI"/>
              </a:defRPr>
            </a:pPr>
            <a:r>
              <a:t>Clic en 'Iniciar sesión'. Redirección segura a la Hosted UI oficial de AWS y validación con PKCE.</a:t>
            </a:r>
          </a:p>
        </p:txBody>
      </p:sp>
      <p:sp>
        <p:nvSpPr>
          <p:cNvPr id="15" name="Rounded Rectangle 14"/>
          <p:cNvSpPr/>
          <p:nvPr/>
        </p:nvSpPr>
        <p:spPr>
          <a:xfrm>
            <a:off x="731520" y="3977639"/>
            <a:ext cx="5257800" cy="1920240"/>
          </a:xfrm>
          <a:prstGeom prst="roundRect">
            <a:avLst/>
          </a:prstGeom>
          <a:solidFill>
            <a:srgbClr val="121C32"/>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160520"/>
            <a:ext cx="4800600" cy="457200"/>
          </a:xfrm>
          <a:prstGeom prst="rect">
            <a:avLst/>
          </a:prstGeom>
          <a:noFill/>
        </p:spPr>
        <p:txBody>
          <a:bodyPr wrap="square">
            <a:spAutoFit/>
          </a:bodyPr>
          <a:lstStyle/>
          <a:p>
            <a:pPr>
              <a:defRPr sz="1600" b="1">
                <a:solidFill>
                  <a:srgbClr val="FFB703"/>
                </a:solidFill>
                <a:latin typeface="Segoe UI"/>
              </a:defRPr>
            </a:pPr>
            <a:r>
              <a:t>Paso 3: Creación de Producto</a:t>
            </a:r>
          </a:p>
        </p:txBody>
      </p:sp>
      <p:sp>
        <p:nvSpPr>
          <p:cNvPr id="17" name="TextBox 16"/>
          <p:cNvSpPr txBox="1"/>
          <p:nvPr/>
        </p:nvSpPr>
        <p:spPr>
          <a:xfrm>
            <a:off x="960120" y="4663440"/>
            <a:ext cx="4800600" cy="1051560"/>
          </a:xfrm>
          <a:prstGeom prst="rect">
            <a:avLst/>
          </a:prstGeom>
          <a:noFill/>
        </p:spPr>
        <p:txBody>
          <a:bodyPr wrap="square">
            <a:spAutoFit/>
          </a:bodyPr>
          <a:lstStyle/>
          <a:p>
            <a:pPr>
              <a:defRPr sz="1300">
                <a:solidFill>
                  <a:srgbClr val="E2E8F0"/>
                </a:solidFill>
                <a:latin typeface="Segoe UI"/>
              </a:defRPr>
            </a:pPr>
            <a:r>
              <a:t>Completar formulario. Petición POST protegida con cabecera 'Authorization: Bearer &lt;token&gt;'.</a:t>
            </a:r>
          </a:p>
        </p:txBody>
      </p:sp>
      <p:sp>
        <p:nvSpPr>
          <p:cNvPr id="18" name="Rounded Rectangle 17"/>
          <p:cNvSpPr/>
          <p:nvPr/>
        </p:nvSpPr>
        <p:spPr>
          <a:xfrm>
            <a:off x="6172200" y="3977639"/>
            <a:ext cx="5257800" cy="1920240"/>
          </a:xfrm>
          <a:prstGeom prst="roundRect">
            <a:avLst/>
          </a:prstGeom>
          <a:solidFill>
            <a:srgbClr val="121C32"/>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4160520"/>
            <a:ext cx="4800600" cy="457200"/>
          </a:xfrm>
          <a:prstGeom prst="rect">
            <a:avLst/>
          </a:prstGeom>
          <a:noFill/>
        </p:spPr>
        <p:txBody>
          <a:bodyPr wrap="square">
            <a:spAutoFit/>
          </a:bodyPr>
          <a:lstStyle/>
          <a:p>
            <a:pPr>
              <a:defRPr sz="1600" b="1">
                <a:solidFill>
                  <a:srgbClr val="FFFFFF"/>
                </a:solidFill>
                <a:latin typeface="Segoe UI"/>
              </a:defRPr>
            </a:pPr>
            <a:r>
              <a:t>Paso 4: Auditoría y Persistencia</a:t>
            </a:r>
          </a:p>
        </p:txBody>
      </p:sp>
      <p:sp>
        <p:nvSpPr>
          <p:cNvPr id="20" name="TextBox 19"/>
          <p:cNvSpPr txBox="1"/>
          <p:nvPr/>
        </p:nvSpPr>
        <p:spPr>
          <a:xfrm>
            <a:off x="6400800" y="4663440"/>
            <a:ext cx="4800600" cy="1051560"/>
          </a:xfrm>
          <a:prstGeom prst="rect">
            <a:avLst/>
          </a:prstGeom>
          <a:noFill/>
        </p:spPr>
        <p:txBody>
          <a:bodyPr wrap="square">
            <a:spAutoFit/>
          </a:bodyPr>
          <a:lstStyle/>
          <a:p>
            <a:pPr>
              <a:defRPr sz="1300">
                <a:solidFill>
                  <a:srgbClr val="E2E8F0"/>
                </a:solidFill>
                <a:latin typeface="Segoe UI"/>
              </a:defRPr>
            </a:pPr>
            <a:r>
              <a:t>El backend valida el token, guarda en Supabase (puerto 5432) y la UI se actualiza al instante.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950">
                <a:solidFill>
                  <a:srgbClr val="94A3B8"/>
                </a:solidFill>
                <a:latin typeface="Segoe UI"/>
              </a:defRPr>
            </a:pPr>
            <a:r>
              <a:t>Soluciones Cloud v1 • DSY1107 • Duoc UC • Arquitectura Cloud Native Segura</a:t>
            </a:r>
          </a:p>
        </p:txBody>
      </p:sp>
      <p:sp>
        <p:nvSpPr>
          <p:cNvPr id="5" name="Rounded Rectangle 4"/>
          <p:cNvSpPr/>
          <p:nvPr/>
        </p:nvSpPr>
        <p:spPr>
          <a:xfrm>
            <a:off x="731520" y="384048"/>
            <a:ext cx="2560320" cy="292608"/>
          </a:xfrm>
          <a:prstGeom prst="roundRect">
            <a:avLst/>
          </a:prstGeom>
          <a:solidFill>
            <a:srgbClr val="102646"/>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B4D8"/>
                </a:solidFill>
                <a:latin typeface="Segoe UI"/>
              </a:defRPr>
            </a:pPr>
            <a:r>
              <a:t>09 • CIERRE &amp; DEFENSA</a:t>
            </a:r>
          </a:p>
        </p:txBody>
      </p:sp>
      <p:sp>
        <p:nvSpPr>
          <p:cNvPr id="6" name="TextBox 5"/>
          <p:cNvSpPr txBox="1"/>
          <p:nvPr/>
        </p:nvSpPr>
        <p:spPr>
          <a:xfrm>
            <a:off x="731520" y="749808"/>
            <a:ext cx="9326880" cy="685800"/>
          </a:xfrm>
          <a:prstGeom prst="rect">
            <a:avLst/>
          </a:prstGeom>
          <a:noFill/>
        </p:spPr>
        <p:txBody>
          <a:bodyPr wrap="square">
            <a:spAutoFit/>
          </a:bodyPr>
          <a:lstStyle/>
          <a:p>
            <a:pPr>
              <a:defRPr sz="2600" b="1">
                <a:solidFill>
                  <a:srgbClr val="FFFFFF"/>
                </a:solidFill>
                <a:latin typeface="Segoe UI"/>
              </a:defRPr>
            </a:pPr>
            <a:r>
              <a:t>Conclusiones: Arquitectura de Grado Empresarial</a:t>
            </a:r>
          </a:p>
        </p:txBody>
      </p:sp>
      <p:sp>
        <p:nvSpPr>
          <p:cNvPr id="7" name="TextBox 6"/>
          <p:cNvSpPr txBox="1"/>
          <p:nvPr/>
        </p:nvSpPr>
        <p:spPr>
          <a:xfrm>
            <a:off x="10332720" y="457200"/>
            <a:ext cx="1097280" cy="411480"/>
          </a:xfrm>
          <a:prstGeom prst="rect">
            <a:avLst/>
          </a:prstGeom>
          <a:noFill/>
        </p:spPr>
        <p:txBody>
          <a:bodyPr wrap="none">
            <a:spAutoFit/>
          </a:bodyPr>
          <a:lstStyle/>
          <a:p>
            <a:pPr algn="r">
              <a:defRPr sz="1300" b="1">
                <a:solidFill>
                  <a:srgbClr val="00B4D8"/>
                </a:solidFill>
                <a:latin typeface="Segoe UI"/>
              </a:defRPr>
            </a:pPr>
            <a:r>
              <a:t>10 / 10</a:t>
            </a:r>
          </a:p>
        </p:txBody>
      </p:sp>
      <p:sp>
        <p:nvSpPr>
          <p:cNvPr id="8" name="Rectangle 7"/>
          <p:cNvSpPr/>
          <p:nvPr/>
        </p:nvSpPr>
        <p:spPr>
          <a:xfrm>
            <a:off x="731520" y="1508760"/>
            <a:ext cx="10728655" cy="13716"/>
          </a:xfrm>
          <a:prstGeom prst="rect">
            <a:avLst/>
          </a:prstGeom>
          <a:solidFill>
            <a:srgbClr val="26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10728655" cy="2194560"/>
          </a:xfrm>
          <a:prstGeom prst="roundRect">
            <a:avLst/>
          </a:prstGeom>
          <a:solidFill>
            <a:srgbClr val="101C34"/>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11680"/>
            <a:ext cx="10271455" cy="457200"/>
          </a:xfrm>
          <a:prstGeom prst="rect">
            <a:avLst/>
          </a:prstGeom>
          <a:noFill/>
        </p:spPr>
        <p:txBody>
          <a:bodyPr wrap="square">
            <a:spAutoFit/>
          </a:bodyPr>
          <a:lstStyle/>
          <a:p>
            <a:pPr>
              <a:defRPr sz="1600" b="1">
                <a:solidFill>
                  <a:srgbClr val="00B4D8"/>
                </a:solidFill>
                <a:latin typeface="Segoe UI"/>
              </a:defRPr>
            </a:pPr>
            <a:r>
              <a:t>Pilares Cumplidos del Proyecto</a:t>
            </a:r>
          </a:p>
        </p:txBody>
      </p:sp>
      <p:sp>
        <p:nvSpPr>
          <p:cNvPr id="11" name="TextBox 10"/>
          <p:cNvSpPr txBox="1"/>
          <p:nvPr/>
        </p:nvSpPr>
        <p:spPr>
          <a:xfrm>
            <a:off x="1005840" y="2423160"/>
            <a:ext cx="10149840" cy="1463040"/>
          </a:xfrm>
          <a:prstGeom prst="rect">
            <a:avLst/>
          </a:prstGeom>
          <a:noFill/>
        </p:spPr>
        <p:txBody>
          <a:bodyPr wrap="square">
            <a:spAutoFit/>
          </a:bodyPr>
          <a:lstStyle/>
          <a:p>
            <a:pPr>
              <a:defRPr sz="1350">
                <a:solidFill>
                  <a:srgbClr val="E2E8F0"/>
                </a:solidFill>
                <a:latin typeface="Segoe UI"/>
              </a:defRPr>
            </a:pPr>
            <a:r>
              <a:t>✔  Desacoplamiento 100% Multi-Cloud: Cada servicio vive en su propio proveedor óptimo (Vercel, AWS, Render, Supabase).</a:t>
            </a:r>
          </a:p>
          <a:p>
            <a:pPr>
              <a:spcBef>
                <a:spcPts val="1000"/>
              </a:spcBef>
              <a:defRPr sz="1350">
                <a:solidFill>
                  <a:srgbClr val="E2E8F0"/>
                </a:solidFill>
                <a:latin typeface="Segoe UI"/>
              </a:defRPr>
            </a:pPr>
            <a:r>
              <a:t>✔  Seguridad Bancaria Delegada: Cero contraseñas en código o BD; protección total con AWS Cognito y PKCE.</a:t>
            </a:r>
          </a:p>
          <a:p>
            <a:pPr>
              <a:spcBef>
                <a:spcPts val="1000"/>
              </a:spcBef>
              <a:defRPr sz="1350">
                <a:solidFill>
                  <a:srgbClr val="E2E8F0"/>
                </a:solidFill>
                <a:latin typeface="Segoe UI"/>
              </a:defRPr>
            </a:pPr>
            <a:r>
              <a:t>✔  Defensa en Profundidad: Doble barrera de filtrado perimetral con Amazon API Gateway y verificación asimétrica en Spring Boot.</a:t>
            </a:r>
          </a:p>
        </p:txBody>
      </p:sp>
      <p:sp>
        <p:nvSpPr>
          <p:cNvPr id="12" name="Rounded Rectangle 11"/>
          <p:cNvSpPr/>
          <p:nvPr/>
        </p:nvSpPr>
        <p:spPr>
          <a:xfrm>
            <a:off x="731520" y="4251960"/>
            <a:ext cx="10728655" cy="1874519"/>
          </a:xfrm>
          <a:prstGeom prst="roundRect">
            <a:avLst/>
          </a:prstGeom>
          <a:solidFill>
            <a:srgbClr val="122632"/>
          </a:solidFill>
          <a:ln w="12700">
            <a:solidFill>
              <a:srgbClr val="304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434840"/>
            <a:ext cx="10271455" cy="457200"/>
          </a:xfrm>
          <a:prstGeom prst="rect">
            <a:avLst/>
          </a:prstGeom>
          <a:noFill/>
        </p:spPr>
        <p:txBody>
          <a:bodyPr wrap="square">
            <a:spAutoFit/>
          </a:bodyPr>
          <a:lstStyle/>
          <a:p>
            <a:pPr>
              <a:defRPr sz="1600" b="1">
                <a:solidFill>
                  <a:srgbClr val="06D6A0"/>
                </a:solidFill>
                <a:latin typeface="Segoe UI"/>
              </a:defRPr>
            </a:pPr>
            <a:r>
              <a:t>Ronda de Preguntas Técnicas</a:t>
            </a:r>
          </a:p>
        </p:txBody>
      </p:sp>
      <p:sp>
        <p:nvSpPr>
          <p:cNvPr id="14" name="TextBox 13"/>
          <p:cNvSpPr txBox="1"/>
          <p:nvPr/>
        </p:nvSpPr>
        <p:spPr>
          <a:xfrm>
            <a:off x="1005840" y="4800600"/>
            <a:ext cx="10149840" cy="1188720"/>
          </a:xfrm>
          <a:prstGeom prst="rect">
            <a:avLst/>
          </a:prstGeom>
          <a:noFill/>
        </p:spPr>
        <p:txBody>
          <a:bodyPr wrap="square">
            <a:spAutoFit/>
          </a:bodyPr>
          <a:lstStyle/>
          <a:p>
            <a:pPr>
              <a:defRPr sz="1800" b="1">
                <a:solidFill>
                  <a:srgbClr val="FFFFFF"/>
                </a:solidFill>
                <a:latin typeface="Segoe UI"/>
              </a:defRPr>
            </a:pPr>
            <a:r>
              <a:t>Muchas gracias por su atención.</a:t>
            </a:r>
          </a:p>
          <a:p>
            <a:pPr>
              <a:spcBef>
                <a:spcPts val="600"/>
              </a:spcBef>
              <a:defRPr sz="1350">
                <a:solidFill>
                  <a:srgbClr val="E2E8F0"/>
                </a:solidFill>
                <a:latin typeface="Segoe UI"/>
              </a:defRPr>
            </a:pPr>
            <a:r>
              <a:t>Quedamos a disposición de la comisión evaluadora para responder dudas y profundizar en la arquitectura.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